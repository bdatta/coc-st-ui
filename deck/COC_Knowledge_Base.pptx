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difficulty isn't volume — it's that the information is relational. A benefit value is meaningless in isolation. '$40 copay' only means something once you know it sits in the Out-of-Network column, under Specialist Visits, within Outpatient Services, and is subject to the deductible language two paragraphs above.
Ctrl-F finds the string; it can't reconstruct the relationships that give the string meaning.
That's also why naively dumping the PDF into a vector database underperforms. The relationships have to survive the conversion, or you've built a search engine that confidently returns the right number attached to the wrong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call out about the shape of this pipeline.
First, Markdown is a checkpoint, not a formality. Because stage 2 produces a human-readable file, we can inspect and correct the extraction before spending money on embeddings — and re-chunk later without re-parsing 200 pages. It's the cheapest place to catch a problem.
Second, the artifacts hanging off stage 2 are the audit trail. The table-structure JSON records every cell with its true rowspan and colspan, so when someone asks 'why did the system say $40,' we can trace the answer back to a specific cell on a specific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deserves emphasis because it has no clean fix — you choose which loss to accept:
Propagate merged values into every cell they cover. Structurally lossy (the merge is gone), but every row becomes self-contained and readable on its own.
Emit raw HTML tables. Perfectly faithful, but harder to chunk and noisier to embed.
We do both, for different consumers: propagated pipe tables feed the embedding path, and a JSON sidecar preserves exact spans for audit. That way we don't have to trade fidelity against retrieval quality — each gets the representation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thing from this slide: the failure mode isn't retrieving nothing, it's retrieving something plausible and wrong. A chunk containing '| Office Visits | $25 | 40% |' with no surrounding context will happily match a question about emergency room costs. Breadcrumb injection and row expansion exist specifically to prevent confident wrong answers.
The vocabulary mismatch point also argues for building an evaluation set before tuning — 30 to 50 real benefit questions with known answers and page numbers. Hybrid search, reranking, and chunk-size changes all feel like improvements. Without a scoreboard you can't tell which ones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runtime downloads' constraint did most of the architectural work here — it eliminated the entire popular PDF-to-Markdown stack, all of which pulls layout and table-transformer weights on first use.
That looked like a limitation and turned out to be an advantage. For a ruled document like a COC, reconstructing tables from ruling-line geometry recovers merged cells exactly, whereas a table-detection model predicts them. Deterministic beats probabilistic when the lines are actually there.
Be honest about the limits: two-column layouts are read as one column, and scanned COCs with no text layer need OCR, which does require an external binary. Both are known and bounded.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design was: Agent 1 creates the Markdown, Agent 2 validates it, Agent 3 chunks and embeds.
If challenged on this, the sharpest framing is: agents are for problems where you don't know the steps in advance. We know the steps. What we don't know in advance is how to answer an arbitrary member question that spans four sections of the document — so that's where the agent belongs.
On cost and latency: per-page LLM calls across 200 pages, repeated on every reprocessing, versus a parse that runs in minutes for free.
Worth conceding openly: the case flips if format diversity grows. This isn't a principled objection to agents, it's a cost-benefit judgment about this document set today. Say so — it's more persuasive than defending the position as absolute, and it tells the room what would change your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B45"/>
        </a:solidFill>
      </p:bgPr>
    </p:bg>
    <p:spTree>
      <p:nvGrpSpPr>
        <p:cNvPr id="1" name=""/>
        <p:cNvGrpSpPr/>
        <p:nvPr/>
      </p:nvGrpSpPr>
      <p:grpSpPr>
        <a:xfrm>
          <a:off x="0" y="0"/>
          <a:ext cx="0" cy="0"/>
          <a:chOff x="0" y="0"/>
          <a:chExt cx="0" cy="0"/>
        </a:xfrm>
      </p:grpSpPr>
      <p:sp>
        <p:nvSpPr>
          <p:cNvPr id="2" name="Text 0"/>
          <p:cNvSpPr/>
          <p:nvPr/>
        </p:nvSpPr>
        <p:spPr>
          <a:xfrm>
            <a:off x="594360" y="256032"/>
            <a:ext cx="10881360" cy="274320"/>
          </a:xfrm>
          <a:prstGeom prst="rect">
            <a:avLst/>
          </a:prstGeom>
          <a:noFill/>
          <a:ln/>
        </p:spPr>
        <p:txBody>
          <a:bodyPr wrap="square" lIns="0" tIns="0" rIns="0" bIns="0" rtlCol="0" anchor="ctr"/>
          <a:lstStyle/>
          <a:p>
            <a:pPr indent="0" marL="0">
              <a:buNone/>
            </a:pPr>
            <a:r>
              <a:rPr lang="en-US" sz="1100" b="1" spc="200" kern="0" dirty="0">
                <a:solidFill>
                  <a:srgbClr val="9FD3D6"/>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94360" y="685800"/>
            <a:ext cx="6675120" cy="1371600"/>
          </a:xfrm>
          <a:prstGeom prst="rect">
            <a:avLst/>
          </a:prstGeom>
          <a:noFill/>
          <a:ln/>
        </p:spPr>
        <p:txBody>
          <a:bodyPr wrap="square" lIns="0" tIns="0" rIns="0" bIns="0" rtlCol="0" anchor="t"/>
          <a:lstStyle/>
          <a:p>
            <a:pPr indent="0" marL="0">
              <a:lnSpc>
                <a:spcPct val="105000"/>
              </a:lnSpc>
              <a:buNone/>
            </a:pPr>
            <a:r>
              <a:rPr lang="en-US" sz="3300" b="1" dirty="0">
                <a:solidFill>
                  <a:srgbClr val="FFFFFF"/>
                </a:solidFill>
                <a:latin typeface="Cambria" pitchFamily="34" charset="0"/>
                <a:ea typeface="Cambria" pitchFamily="34" charset="-122"/>
                <a:cs typeface="Cambria" pitchFamily="34" charset="-120"/>
              </a:rPr>
              <a:t>200 Pages, One Question,</a:t>
            </a:r>
            <a:endParaRPr lang="en-US" sz="3300" dirty="0"/>
          </a:p>
          <a:p>
            <a:pPr indent="0" marL="0">
              <a:lnSpc>
                <a:spcPct val="105000"/>
              </a:lnSpc>
              <a:buNone/>
            </a:pPr>
            <a:r>
              <a:rPr lang="en-US" sz="3300" b="1" dirty="0">
                <a:solidFill>
                  <a:srgbClr val="FFFFFF"/>
                </a:solidFill>
                <a:latin typeface="Cambria" pitchFamily="34" charset="0"/>
                <a:ea typeface="Cambria" pitchFamily="34" charset="-122"/>
                <a:cs typeface="Cambria" pitchFamily="34" charset="-120"/>
              </a:rPr>
              <a:t>No Good Way to Answer It</a:t>
            </a:r>
            <a:endParaRPr lang="en-US" sz="3300" dirty="0"/>
          </a:p>
        </p:txBody>
      </p:sp>
      <p:sp>
        <p:nvSpPr>
          <p:cNvPr id="4" name="Text 2"/>
          <p:cNvSpPr/>
          <p:nvPr/>
        </p:nvSpPr>
        <p:spPr>
          <a:xfrm>
            <a:off x="594360" y="2148840"/>
            <a:ext cx="6492240" cy="685800"/>
          </a:xfrm>
          <a:prstGeom prst="rect">
            <a:avLst/>
          </a:prstGeom>
          <a:noFill/>
          <a:ln/>
        </p:spPr>
        <p:txBody>
          <a:bodyPr wrap="square" lIns="0" tIns="0" rIns="0" bIns="0" rtlCol="0" anchor="t"/>
          <a:lstStyle/>
          <a:p>
            <a:pPr indent="0" marL="0">
              <a:buNone/>
            </a:pPr>
            <a:r>
              <a:rPr lang="en-US" sz="1350" i="1" dirty="0">
                <a:solidFill>
                  <a:srgbClr val="9FD3D6"/>
                </a:solidFill>
                <a:latin typeface="Calibri" pitchFamily="34" charset="0"/>
                <a:ea typeface="Calibri" pitchFamily="34" charset="-122"/>
                <a:cs typeface="Calibri" pitchFamily="34" charset="-120"/>
              </a:rPr>
              <a:t>A benefit value is meaningless in isolation. The information is relational — and relationships are exactly what a PDF throws away.</a:t>
            </a:r>
            <a:endParaRPr lang="en-US" sz="1350" dirty="0"/>
          </a:p>
        </p:txBody>
      </p:sp>
      <p:sp>
        <p:nvSpPr>
          <p:cNvPr id="5" name="Text 3"/>
          <p:cNvSpPr/>
          <p:nvPr/>
        </p:nvSpPr>
        <p:spPr>
          <a:xfrm>
            <a:off x="594360" y="3017520"/>
            <a:ext cx="6492240" cy="2468880"/>
          </a:xfrm>
          <a:prstGeom prst="rect">
            <a:avLst/>
          </a:prstGeom>
          <a:noFill/>
          <a:ln/>
        </p:spPr>
        <p:txBody>
          <a:bodyPr wrap="square" lIns="0" tIns="0" rIns="0" bIns="0" rtlCol="0" anchor="t"/>
          <a:lstStyle/>
          <a:p>
            <a:pPr marL="177800" indent="-177800">
              <a:lnSpc>
                <a:spcPct val="100000"/>
              </a:lnSpc>
              <a:spcAft>
                <a:spcPts val="1600"/>
              </a:spcAft>
              <a:buSzPct val="100000"/>
              <a:buChar char="•"/>
            </a:pPr>
            <a:r>
              <a:rPr lang="en-US" sz="1350" dirty="0">
                <a:solidFill>
                  <a:srgbClr val="DCEBED"/>
                </a:solidFill>
                <a:latin typeface="Calibri" pitchFamily="34" charset="0"/>
                <a:ea typeface="Calibri" pitchFamily="34" charset="-122"/>
                <a:cs typeface="Calibri" pitchFamily="34" charset="-120"/>
              </a:rPr>
              <a:t>A Certificate of Coverage runs ~200 pages of plan language and benefit tables</a:t>
            </a:r>
            <a:endParaRPr lang="en-US" sz="1350" dirty="0"/>
          </a:p>
          <a:p>
            <a:pPr marL="177800" indent="-177800">
              <a:lnSpc>
                <a:spcPct val="100000"/>
              </a:lnSpc>
              <a:spcAft>
                <a:spcPts val="1600"/>
              </a:spcAft>
              <a:buSzPct val="100000"/>
              <a:buChar char="•"/>
            </a:pPr>
            <a:r>
              <a:rPr lang="en-US" sz="1350" dirty="0">
                <a:solidFill>
                  <a:srgbClr val="DCEBED"/>
                </a:solidFill>
                <a:latin typeface="Calibri" pitchFamily="34" charset="0"/>
                <a:ea typeface="Calibri" pitchFamily="34" charset="-122"/>
                <a:cs typeface="Calibri" pitchFamily="34" charset="-120"/>
              </a:rPr>
              <a:t>Members and service reps need one answer: is this covered, and what will it cost?</a:t>
            </a:r>
            <a:endParaRPr lang="en-US" sz="1350" dirty="0"/>
          </a:p>
          <a:p>
            <a:pPr marL="177800" indent="-177800">
              <a:lnSpc>
                <a:spcPct val="100000"/>
              </a:lnSpc>
              <a:spcAft>
                <a:spcPts val="1600"/>
              </a:spcAft>
              <a:buSzPct val="100000"/>
              <a:buChar char="•"/>
            </a:pPr>
            <a:r>
              <a:rPr lang="en-US" sz="1350" dirty="0">
                <a:solidFill>
                  <a:srgbClr val="DCEBED"/>
                </a:solidFill>
                <a:latin typeface="Calibri" pitchFamily="34" charset="0"/>
                <a:ea typeface="Calibri" pitchFamily="34" charset="-122"/>
                <a:cs typeface="Calibri" pitchFamily="34" charset="-120"/>
              </a:rPr>
              <a:t>Keyword search fails — the answer is a table cell, not a sentence</a:t>
            </a:r>
            <a:endParaRPr lang="en-US" sz="1350" dirty="0"/>
          </a:p>
          <a:p>
            <a:pPr marL="177800" indent="-177800">
              <a:lnSpc>
                <a:spcPct val="100000"/>
              </a:lnSpc>
              <a:spcAft>
                <a:spcPts val="1600"/>
              </a:spcAft>
              <a:buSzPct val="100000"/>
              <a:buChar char="•"/>
            </a:pPr>
            <a:r>
              <a:rPr lang="en-US" sz="1350" dirty="0">
                <a:solidFill>
                  <a:srgbClr val="DCEBED"/>
                </a:solidFill>
                <a:latin typeface="Calibri" pitchFamily="34" charset="0"/>
                <a:ea typeface="Calibri" pitchFamily="34" charset="-122"/>
                <a:cs typeface="Calibri" pitchFamily="34" charset="-120"/>
              </a:rPr>
              <a:t>Meaning depends on the column header and the section hierarchy above it</a:t>
            </a:r>
            <a:endParaRPr lang="en-US" sz="1350" dirty="0"/>
          </a:p>
          <a:p>
            <a:pPr marL="177800" indent="-177800">
              <a:lnSpc>
                <a:spcPct val="100000"/>
              </a:lnSpc>
              <a:spcAft>
                <a:spcPts val="1600"/>
              </a:spcAft>
              <a:buSzPct val="100000"/>
              <a:buChar char="•"/>
            </a:pPr>
            <a:r>
              <a:rPr lang="en-US" sz="1350" dirty="0">
                <a:solidFill>
                  <a:srgbClr val="DCEBED"/>
                </a:solidFill>
                <a:latin typeface="Calibri" pitchFamily="34" charset="0"/>
                <a:ea typeface="Calibri" pitchFamily="34" charset="-122"/>
                <a:cs typeface="Calibri" pitchFamily="34" charset="-120"/>
              </a:rPr>
              <a:t>Wrong answers carry real cost: misquotes, appeals, rework, eroded trust</a:t>
            </a:r>
            <a:endParaRPr lang="en-US" sz="1350" dirty="0"/>
          </a:p>
        </p:txBody>
      </p:sp>
      <p:sp>
        <p:nvSpPr>
          <p:cNvPr id="6" name="Shape 4"/>
          <p:cNvSpPr/>
          <p:nvPr/>
        </p:nvSpPr>
        <p:spPr>
          <a:xfrm>
            <a:off x="7589520" y="1280160"/>
            <a:ext cx="4023360" cy="4206240"/>
          </a:xfrm>
          <a:prstGeom prst="roundRect">
            <a:avLst>
              <a:gd name="adj" fmla="val 1818"/>
            </a:avLst>
          </a:prstGeom>
          <a:solidFill>
            <a:srgbClr val="0A4E5A"/>
          </a:solidFill>
          <a:ln/>
        </p:spPr>
      </p:sp>
      <p:sp>
        <p:nvSpPr>
          <p:cNvPr id="7" name="Text 5"/>
          <p:cNvSpPr/>
          <p:nvPr/>
        </p:nvSpPr>
        <p:spPr>
          <a:xfrm>
            <a:off x="7863840" y="1508760"/>
            <a:ext cx="3474720" cy="274320"/>
          </a:xfrm>
          <a:prstGeom prst="rect">
            <a:avLst/>
          </a:prstGeom>
          <a:noFill/>
          <a:ln/>
        </p:spPr>
        <p:txBody>
          <a:bodyPr wrap="square" lIns="0" tIns="0" rIns="0" bIns="0" rtlCol="0" anchor="ctr"/>
          <a:lstStyle/>
          <a:p>
            <a:pPr indent="0" marL="0">
              <a:buNone/>
            </a:pPr>
            <a:r>
              <a:rPr lang="en-US" sz="1050" b="1" spc="120" kern="0" dirty="0">
                <a:solidFill>
                  <a:srgbClr val="9FD3D6"/>
                </a:solidFill>
                <a:latin typeface="Calibri" pitchFamily="34" charset="0"/>
                <a:ea typeface="Calibri" pitchFamily="34" charset="-122"/>
                <a:cs typeface="Calibri" pitchFamily="34" charset="-120"/>
              </a:rPr>
              <a:t>THE SAME VALUE, THREE MEANINGS</a:t>
            </a:r>
            <a:endParaRPr lang="en-US" sz="1050" dirty="0"/>
          </a:p>
        </p:txBody>
      </p:sp>
      <p:sp>
        <p:nvSpPr>
          <p:cNvPr id="8" name="Shape 6"/>
          <p:cNvSpPr/>
          <p:nvPr/>
        </p:nvSpPr>
        <p:spPr>
          <a:xfrm>
            <a:off x="7863840" y="1965960"/>
            <a:ext cx="3474720" cy="676656"/>
          </a:xfrm>
          <a:prstGeom prst="roundRect">
            <a:avLst>
              <a:gd name="adj" fmla="val 8108"/>
            </a:avLst>
          </a:prstGeom>
          <a:solidFill>
            <a:srgbClr val="063E48"/>
          </a:solidFill>
          <a:ln/>
        </p:spPr>
      </p:sp>
      <p:sp>
        <p:nvSpPr>
          <p:cNvPr id="9" name="Text 7"/>
          <p:cNvSpPr/>
          <p:nvPr/>
        </p:nvSpPr>
        <p:spPr>
          <a:xfrm>
            <a:off x="8028432" y="2020824"/>
            <a:ext cx="3200400" cy="566928"/>
          </a:xfrm>
          <a:prstGeom prst="rect">
            <a:avLst/>
          </a:prstGeom>
          <a:noFill/>
          <a:ln/>
        </p:spPr>
        <p:txBody>
          <a:bodyPr wrap="square" lIns="0" tIns="0" rIns="0" bIns="0" rtlCol="0" anchor="ctr"/>
          <a:lstStyle/>
          <a:p>
            <a:pP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$40 copay</a:t>
            </a:r>
            <a:endParaRPr lang="en-US" sz="1500" dirty="0"/>
          </a:p>
          <a:p>
            <a:pPr indent="0" marL="0">
              <a:lnSpc>
                <a:spcPct val="100000"/>
              </a:lnSpc>
              <a:buNone/>
            </a:pPr>
            <a:r>
              <a:rPr lang="en-US" sz="950" dirty="0">
                <a:solidFill>
                  <a:srgbClr val="9FD3D6"/>
                </a:solidFill>
                <a:latin typeface="Calibri" pitchFamily="34" charset="0"/>
                <a:ea typeface="Calibri" pitchFamily="34" charset="-122"/>
                <a:cs typeface="Calibri" pitchFamily="34" charset="-120"/>
              </a:rPr>
              <a:t>Specialist Visits  ·  Out-of-Network tier</a:t>
            </a:r>
            <a:endParaRPr lang="en-US" sz="1500" dirty="0"/>
          </a:p>
        </p:txBody>
      </p:sp>
      <p:sp>
        <p:nvSpPr>
          <p:cNvPr id="10" name="Shape 8"/>
          <p:cNvSpPr/>
          <p:nvPr/>
        </p:nvSpPr>
        <p:spPr>
          <a:xfrm>
            <a:off x="7863840" y="2752344"/>
            <a:ext cx="3474720" cy="676656"/>
          </a:xfrm>
          <a:prstGeom prst="roundRect">
            <a:avLst>
              <a:gd name="adj" fmla="val 8108"/>
            </a:avLst>
          </a:prstGeom>
          <a:solidFill>
            <a:srgbClr val="063E48"/>
          </a:solidFill>
          <a:ln/>
        </p:spPr>
      </p:sp>
      <p:sp>
        <p:nvSpPr>
          <p:cNvPr id="11" name="Text 9"/>
          <p:cNvSpPr/>
          <p:nvPr/>
        </p:nvSpPr>
        <p:spPr>
          <a:xfrm>
            <a:off x="8028432" y="2807208"/>
            <a:ext cx="3200400" cy="566928"/>
          </a:xfrm>
          <a:prstGeom prst="rect">
            <a:avLst/>
          </a:prstGeom>
          <a:noFill/>
          <a:ln/>
        </p:spPr>
        <p:txBody>
          <a:bodyPr wrap="square" lIns="0" tIns="0" rIns="0" bIns="0" rtlCol="0" anchor="ctr"/>
          <a:lstStyle/>
          <a:p>
            <a:pP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$40 copay</a:t>
            </a:r>
            <a:endParaRPr lang="en-US" sz="1500" dirty="0"/>
          </a:p>
          <a:p>
            <a:pPr indent="0" marL="0">
              <a:lnSpc>
                <a:spcPct val="100000"/>
              </a:lnSpc>
              <a:buNone/>
            </a:pPr>
            <a:r>
              <a:rPr lang="en-US" sz="950" dirty="0">
                <a:solidFill>
                  <a:srgbClr val="9FD3D6"/>
                </a:solidFill>
                <a:latin typeface="Calibri" pitchFamily="34" charset="0"/>
                <a:ea typeface="Calibri" pitchFamily="34" charset="-122"/>
                <a:cs typeface="Calibri" pitchFamily="34" charset="-120"/>
              </a:rPr>
              <a:t>Urgent Care  ·  In-Network tier</a:t>
            </a:r>
            <a:endParaRPr lang="en-US" sz="1500" dirty="0"/>
          </a:p>
        </p:txBody>
      </p:sp>
      <p:sp>
        <p:nvSpPr>
          <p:cNvPr id="12" name="Shape 10"/>
          <p:cNvSpPr/>
          <p:nvPr/>
        </p:nvSpPr>
        <p:spPr>
          <a:xfrm>
            <a:off x="7863840" y="3538728"/>
            <a:ext cx="3474720" cy="676656"/>
          </a:xfrm>
          <a:prstGeom prst="roundRect">
            <a:avLst>
              <a:gd name="adj" fmla="val 8108"/>
            </a:avLst>
          </a:prstGeom>
          <a:solidFill>
            <a:srgbClr val="063E48"/>
          </a:solidFill>
          <a:ln/>
        </p:spPr>
      </p:sp>
      <p:sp>
        <p:nvSpPr>
          <p:cNvPr id="13" name="Text 11"/>
          <p:cNvSpPr/>
          <p:nvPr/>
        </p:nvSpPr>
        <p:spPr>
          <a:xfrm>
            <a:off x="8028432" y="3593592"/>
            <a:ext cx="3200400" cy="566928"/>
          </a:xfrm>
          <a:prstGeom prst="rect">
            <a:avLst/>
          </a:prstGeom>
          <a:noFill/>
          <a:ln/>
        </p:spPr>
        <p:txBody>
          <a:bodyPr wrap="square" lIns="0" tIns="0" rIns="0" bIns="0" rtlCol="0" anchor="ctr"/>
          <a:lstStyle/>
          <a:p>
            <a:pP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$40 copay</a:t>
            </a:r>
            <a:endParaRPr lang="en-US" sz="1500" dirty="0"/>
          </a:p>
          <a:p>
            <a:pPr indent="0" marL="0">
              <a:lnSpc>
                <a:spcPct val="100000"/>
              </a:lnSpc>
              <a:buNone/>
            </a:pPr>
            <a:r>
              <a:rPr lang="en-US" sz="950" dirty="0">
                <a:solidFill>
                  <a:srgbClr val="9FD3D6"/>
                </a:solidFill>
                <a:latin typeface="Calibri" pitchFamily="34" charset="0"/>
                <a:ea typeface="Calibri" pitchFamily="34" charset="-122"/>
                <a:cs typeface="Calibri" pitchFamily="34" charset="-120"/>
              </a:rPr>
              <a:t>Outpatient Therapy  ·  applies after deductible</a:t>
            </a:r>
            <a:endParaRPr lang="en-US" sz="1500" dirty="0"/>
          </a:p>
        </p:txBody>
      </p:sp>
      <p:sp>
        <p:nvSpPr>
          <p:cNvPr id="14" name="Text 12"/>
          <p:cNvSpPr/>
          <p:nvPr/>
        </p:nvSpPr>
        <p:spPr>
          <a:xfrm>
            <a:off x="7863840" y="4480560"/>
            <a:ext cx="3474720" cy="868680"/>
          </a:xfrm>
          <a:prstGeom prst="rect">
            <a:avLst/>
          </a:prstGeom>
          <a:noFill/>
          <a:ln/>
        </p:spPr>
        <p:txBody>
          <a:bodyPr wrap="square" lIns="0" tIns="0" rIns="0" bIns="0" rtlCol="0" anchor="t"/>
          <a:lstStyle/>
          <a:p>
            <a:pPr indent="0" marL="0">
              <a:buNone/>
            </a:pPr>
            <a:r>
              <a:rPr lang="en-US" sz="1150" i="1" dirty="0">
                <a:solidFill>
                  <a:srgbClr val="BBD9DC"/>
                </a:solidFill>
                <a:latin typeface="Calibri" pitchFamily="34" charset="0"/>
                <a:ea typeface="Calibri" pitchFamily="34" charset="-122"/>
                <a:cs typeface="Calibri" pitchFamily="34" charset="-120"/>
              </a:rPr>
              <a:t>Ctrl-F finds the string. It cannot reconstruct the context that gives the string meaning.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56032"/>
            <a:ext cx="1088136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SOLUTION OVERVIEW</a:t>
            </a:r>
            <a:endParaRPr lang="en-US" sz="1100" dirty="0"/>
          </a:p>
        </p:txBody>
      </p:sp>
      <p:sp>
        <p:nvSpPr>
          <p:cNvPr id="3" name="Text 1"/>
          <p:cNvSpPr/>
          <p:nvPr/>
        </p:nvSpPr>
        <p:spPr>
          <a:xfrm>
            <a:off x="594360" y="548640"/>
            <a:ext cx="10881360" cy="868680"/>
          </a:xfrm>
          <a:prstGeom prst="rect">
            <a:avLst/>
          </a:prstGeom>
          <a:noFill/>
          <a:ln/>
        </p:spPr>
        <p:txBody>
          <a:bodyPr wrap="square" lIns="0" tIns="0" rIns="0" bIns="0" rtlCol="0" anchor="ctr"/>
          <a:lstStyle/>
          <a:p>
            <a:pPr algn="l" indent="0" marL="0">
              <a:buNone/>
            </a:pPr>
            <a:r>
              <a:rPr lang="en-US" sz="3400" b="1" dirty="0">
                <a:solidFill>
                  <a:srgbClr val="17323A"/>
                </a:solidFill>
                <a:latin typeface="Cambria" pitchFamily="34" charset="0"/>
                <a:ea typeface="Cambria" pitchFamily="34" charset="-122"/>
                <a:cs typeface="Cambria" pitchFamily="34" charset="-120"/>
              </a:rPr>
              <a:t>Four Stages, One Auditable Pipeline</a:t>
            </a:r>
            <a:endParaRPr lang="en-US" sz="3400" dirty="0"/>
          </a:p>
        </p:txBody>
      </p:sp>
      <p:sp>
        <p:nvSpPr>
          <p:cNvPr id="4" name="Text 2"/>
          <p:cNvSpPr/>
          <p:nvPr/>
        </p:nvSpPr>
        <p:spPr>
          <a:xfrm>
            <a:off x="594360" y="1463040"/>
            <a:ext cx="2743200" cy="310896"/>
          </a:xfrm>
          <a:prstGeom prst="rect">
            <a:avLst/>
          </a:prstGeom>
          <a:noFill/>
          <a:ln/>
        </p:spPr>
        <p:txBody>
          <a:bodyPr wrap="square" lIns="0" tIns="0" rIns="0" bIns="0" rtlCol="0" anchor="ctr"/>
          <a:lstStyle/>
          <a:p>
            <a:pPr indent="0" marL="0">
              <a:buNone/>
            </a:pPr>
            <a:r>
              <a:rPr lang="en-US" sz="1100" b="1" dirty="0">
                <a:solidFill>
                  <a:srgbClr val="5E7A82"/>
                </a:solidFill>
                <a:latin typeface="Calibri" pitchFamily="34" charset="0"/>
                <a:ea typeface="Calibri" pitchFamily="34" charset="-122"/>
                <a:cs typeface="Calibri" pitchFamily="34" charset="-120"/>
              </a:rPr>
              <a:t>COC PDF  ·  ~200 pages</a:t>
            </a:r>
            <a:endParaRPr lang="en-US" sz="1100" dirty="0"/>
          </a:p>
        </p:txBody>
      </p:sp>
      <p:sp>
        <p:nvSpPr>
          <p:cNvPr id="5" name="Shape 3"/>
          <p:cNvSpPr/>
          <p:nvPr/>
        </p:nvSpPr>
        <p:spPr>
          <a:xfrm>
            <a:off x="640080" y="1874520"/>
            <a:ext cx="2514600" cy="1783080"/>
          </a:xfrm>
          <a:prstGeom prst="roundRect">
            <a:avLst>
              <a:gd name="adj" fmla="val 4103"/>
            </a:avLst>
          </a:prstGeom>
          <a:solidFill>
            <a:srgbClr val="F2F7F8"/>
          </a:solidFill>
          <a:ln/>
          <a:effectLst>
            <a:outerShdw sx="100000" sy="100000" kx="0" ky="0" algn="bl" rotWithShape="0" blurRad="127000" dist="25400" dir="5400000">
              <a:srgbClr val="0A3238">
                <a:alpha val="12000"/>
              </a:srgbClr>
            </a:outerShdw>
          </a:effectLst>
        </p:spPr>
      </p:sp>
      <p:sp>
        <p:nvSpPr>
          <p:cNvPr id="6" name="Shape 4"/>
          <p:cNvSpPr/>
          <p:nvPr/>
        </p:nvSpPr>
        <p:spPr>
          <a:xfrm>
            <a:off x="841248" y="2084832"/>
            <a:ext cx="384048" cy="384048"/>
          </a:xfrm>
          <a:prstGeom prst="ellipse">
            <a:avLst/>
          </a:prstGeom>
          <a:solidFill>
            <a:srgbClr val="053B45"/>
          </a:solidFill>
          <a:ln/>
        </p:spPr>
      </p:sp>
      <p:sp>
        <p:nvSpPr>
          <p:cNvPr id="7" name="Text 5"/>
          <p:cNvSpPr/>
          <p:nvPr/>
        </p:nvSpPr>
        <p:spPr>
          <a:xfrm>
            <a:off x="841248"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25880" y="2084832"/>
            <a:ext cx="1691640" cy="384048"/>
          </a:xfrm>
          <a:prstGeom prst="rect">
            <a:avLst/>
          </a:prstGeom>
          <a:noFill/>
          <a:ln/>
        </p:spPr>
        <p:txBody>
          <a:bodyPr wrap="square" lIns="0" tIns="0" rIns="0" bIns="0" rtlCol="0" anchor="ctr"/>
          <a:lstStyle/>
          <a:p>
            <a:pPr indent="0" marL="0">
              <a:buNone/>
            </a:pPr>
            <a:r>
              <a:rPr lang="en-US" sz="1450" b="1" dirty="0">
                <a:solidFill>
                  <a:srgbClr val="17323A"/>
                </a:solidFill>
                <a:latin typeface="Calibri" pitchFamily="34" charset="0"/>
                <a:ea typeface="Calibri" pitchFamily="34" charset="-122"/>
                <a:cs typeface="Calibri" pitchFamily="34" charset="-120"/>
              </a:rPr>
              <a:t>Extract</a:t>
            </a:r>
            <a:endParaRPr lang="en-US" sz="1450" dirty="0"/>
          </a:p>
        </p:txBody>
      </p:sp>
      <p:sp>
        <p:nvSpPr>
          <p:cNvPr id="9" name="Text 7"/>
          <p:cNvSpPr/>
          <p:nvPr/>
        </p:nvSpPr>
        <p:spPr>
          <a:xfrm>
            <a:off x="841248" y="2606040"/>
            <a:ext cx="2121408" cy="1234440"/>
          </a:xfrm>
          <a:prstGeom prst="rect">
            <a:avLst/>
          </a:prstGeom>
          <a:noFill/>
          <a:ln/>
        </p:spPr>
        <p:txBody>
          <a:bodyPr wrap="square" lIns="0" tIns="0" rIns="0" bIns="0" rtlCol="0" anchor="t"/>
          <a:lstStyle/>
          <a:p>
            <a:pPr indent="0" marL="0">
              <a:lnSpc>
                <a:spcPct val="105000"/>
              </a:lnSpc>
              <a:buNone/>
            </a:pPr>
            <a:r>
              <a:rPr lang="en-US" sz="1050" dirty="0">
                <a:solidFill>
                  <a:srgbClr val="5E7A82"/>
                </a:solidFill>
                <a:latin typeface="Calibri" pitchFamily="34" charset="0"/>
                <a:ea typeface="Calibri" pitchFamily="34" charset="-122"/>
                <a:cs typeface="Calibri" pitchFamily="34" charset="-120"/>
              </a:rPr>
              <a:t>Geometry-based parsing of text, headings, and table grids. Merged cells recovered exactly from ruling lines.</a:t>
            </a:r>
            <a:endParaRPr lang="en-US" sz="1050" dirty="0"/>
          </a:p>
        </p:txBody>
      </p:sp>
      <p:sp>
        <p:nvSpPr>
          <p:cNvPr id="10" name="Shape 8"/>
          <p:cNvSpPr/>
          <p:nvPr/>
        </p:nvSpPr>
        <p:spPr>
          <a:xfrm>
            <a:off x="3429000" y="1874520"/>
            <a:ext cx="2514600" cy="1783080"/>
          </a:xfrm>
          <a:prstGeom prst="roundRect">
            <a:avLst>
              <a:gd name="adj" fmla="val 4103"/>
            </a:avLst>
          </a:prstGeom>
          <a:solidFill>
            <a:srgbClr val="F2F7F8"/>
          </a:solidFill>
          <a:ln/>
          <a:effectLst>
            <a:outerShdw sx="100000" sy="100000" kx="0" ky="0" algn="bl" rotWithShape="0" blurRad="127000" dist="25400" dir="5400000">
              <a:srgbClr val="0A3238">
                <a:alpha val="12000"/>
              </a:srgbClr>
            </a:outerShdw>
          </a:effectLst>
        </p:spPr>
      </p:sp>
      <p:sp>
        <p:nvSpPr>
          <p:cNvPr id="11" name="Shape 9"/>
          <p:cNvSpPr/>
          <p:nvPr/>
        </p:nvSpPr>
        <p:spPr>
          <a:xfrm>
            <a:off x="3630168" y="2084832"/>
            <a:ext cx="384048" cy="384048"/>
          </a:xfrm>
          <a:prstGeom prst="ellipse">
            <a:avLst/>
          </a:prstGeom>
          <a:solidFill>
            <a:srgbClr val="053B45"/>
          </a:solidFill>
          <a:ln/>
        </p:spPr>
      </p:sp>
      <p:sp>
        <p:nvSpPr>
          <p:cNvPr id="12" name="Text 10"/>
          <p:cNvSpPr/>
          <p:nvPr/>
        </p:nvSpPr>
        <p:spPr>
          <a:xfrm>
            <a:off x="3630168"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114800" y="2084832"/>
            <a:ext cx="1691640" cy="384048"/>
          </a:xfrm>
          <a:prstGeom prst="rect">
            <a:avLst/>
          </a:prstGeom>
          <a:noFill/>
          <a:ln/>
        </p:spPr>
        <p:txBody>
          <a:bodyPr wrap="square" lIns="0" tIns="0" rIns="0" bIns="0" rtlCol="0" anchor="ctr"/>
          <a:lstStyle/>
          <a:p>
            <a:pPr indent="0" marL="0">
              <a:buNone/>
            </a:pPr>
            <a:r>
              <a:rPr lang="en-US" sz="1450" b="1" dirty="0">
                <a:solidFill>
                  <a:srgbClr val="17323A"/>
                </a:solidFill>
                <a:latin typeface="Calibri" pitchFamily="34" charset="0"/>
                <a:ea typeface="Calibri" pitchFamily="34" charset="-122"/>
                <a:cs typeface="Calibri" pitchFamily="34" charset="-120"/>
              </a:rPr>
              <a:t>Structure</a:t>
            </a:r>
            <a:endParaRPr lang="en-US" sz="1450" dirty="0"/>
          </a:p>
        </p:txBody>
      </p:sp>
      <p:sp>
        <p:nvSpPr>
          <p:cNvPr id="14" name="Text 12"/>
          <p:cNvSpPr/>
          <p:nvPr/>
        </p:nvSpPr>
        <p:spPr>
          <a:xfrm>
            <a:off x="3630168" y="2606040"/>
            <a:ext cx="2121408" cy="1234440"/>
          </a:xfrm>
          <a:prstGeom prst="rect">
            <a:avLst/>
          </a:prstGeom>
          <a:noFill/>
          <a:ln/>
        </p:spPr>
        <p:txBody>
          <a:bodyPr wrap="square" lIns="0" tIns="0" rIns="0" bIns="0" rtlCol="0" anchor="t"/>
          <a:lstStyle/>
          <a:p>
            <a:pPr indent="0" marL="0">
              <a:lnSpc>
                <a:spcPct val="105000"/>
              </a:lnSpc>
              <a:buNone/>
            </a:pPr>
            <a:r>
              <a:rPr lang="en-US" sz="1050" dirty="0">
                <a:solidFill>
                  <a:srgbClr val="5E7A82"/>
                </a:solidFill>
                <a:latin typeface="Calibri" pitchFamily="34" charset="0"/>
                <a:ea typeface="Calibri" pitchFamily="34" charset="-122"/>
                <a:cs typeface="Calibri" pitchFamily="34" charset="-120"/>
              </a:rPr>
              <a:t>Markdown carrying heading hierarchy, page anchors, and explicit table boundaries.</a:t>
            </a:r>
            <a:endParaRPr lang="en-US" sz="1050" dirty="0"/>
          </a:p>
        </p:txBody>
      </p:sp>
      <p:sp>
        <p:nvSpPr>
          <p:cNvPr id="15" name="Shape 13"/>
          <p:cNvSpPr/>
          <p:nvPr/>
        </p:nvSpPr>
        <p:spPr>
          <a:xfrm>
            <a:off x="6217920" y="1874520"/>
            <a:ext cx="2514600" cy="1783080"/>
          </a:xfrm>
          <a:prstGeom prst="roundRect">
            <a:avLst>
              <a:gd name="adj" fmla="val 4103"/>
            </a:avLst>
          </a:prstGeom>
          <a:solidFill>
            <a:srgbClr val="F2F7F8"/>
          </a:solidFill>
          <a:ln/>
          <a:effectLst>
            <a:outerShdw sx="100000" sy="100000" kx="0" ky="0" algn="bl" rotWithShape="0" blurRad="127000" dist="25400" dir="5400000">
              <a:srgbClr val="0A3238">
                <a:alpha val="12000"/>
              </a:srgbClr>
            </a:outerShdw>
          </a:effectLst>
        </p:spPr>
      </p:sp>
      <p:sp>
        <p:nvSpPr>
          <p:cNvPr id="16" name="Shape 14"/>
          <p:cNvSpPr/>
          <p:nvPr/>
        </p:nvSpPr>
        <p:spPr>
          <a:xfrm>
            <a:off x="6419088" y="2084832"/>
            <a:ext cx="384048" cy="384048"/>
          </a:xfrm>
          <a:prstGeom prst="ellipse">
            <a:avLst/>
          </a:prstGeom>
          <a:solidFill>
            <a:srgbClr val="053B45"/>
          </a:solidFill>
          <a:ln/>
        </p:spPr>
      </p:sp>
      <p:sp>
        <p:nvSpPr>
          <p:cNvPr id="17" name="Text 15"/>
          <p:cNvSpPr/>
          <p:nvPr/>
        </p:nvSpPr>
        <p:spPr>
          <a:xfrm>
            <a:off x="6419088"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6903720" y="2084832"/>
            <a:ext cx="1691640" cy="384048"/>
          </a:xfrm>
          <a:prstGeom prst="rect">
            <a:avLst/>
          </a:prstGeom>
          <a:noFill/>
          <a:ln/>
        </p:spPr>
        <p:txBody>
          <a:bodyPr wrap="square" lIns="0" tIns="0" rIns="0" bIns="0" rtlCol="0" anchor="ctr"/>
          <a:lstStyle/>
          <a:p>
            <a:pPr indent="0" marL="0">
              <a:buNone/>
            </a:pPr>
            <a:r>
              <a:rPr lang="en-US" sz="1450" b="1" dirty="0">
                <a:solidFill>
                  <a:srgbClr val="17323A"/>
                </a:solidFill>
                <a:latin typeface="Calibri" pitchFamily="34" charset="0"/>
                <a:ea typeface="Calibri" pitchFamily="34" charset="-122"/>
                <a:cs typeface="Calibri" pitchFamily="34" charset="-120"/>
              </a:rPr>
              <a:t>Chunk</a:t>
            </a:r>
            <a:endParaRPr lang="en-US" sz="1450" dirty="0"/>
          </a:p>
        </p:txBody>
      </p:sp>
      <p:sp>
        <p:nvSpPr>
          <p:cNvPr id="19" name="Text 17"/>
          <p:cNvSpPr/>
          <p:nvPr/>
        </p:nvSpPr>
        <p:spPr>
          <a:xfrm>
            <a:off x="6419088" y="2606040"/>
            <a:ext cx="2121408" cy="1234440"/>
          </a:xfrm>
          <a:prstGeom prst="rect">
            <a:avLst/>
          </a:prstGeom>
          <a:noFill/>
          <a:ln/>
        </p:spPr>
        <p:txBody>
          <a:bodyPr wrap="square" lIns="0" tIns="0" rIns="0" bIns="0" rtlCol="0" anchor="t"/>
          <a:lstStyle/>
          <a:p>
            <a:pPr indent="0" marL="0">
              <a:lnSpc>
                <a:spcPct val="105000"/>
              </a:lnSpc>
              <a:buNone/>
            </a:pPr>
            <a:r>
              <a:rPr lang="en-US" sz="1050" dirty="0">
                <a:solidFill>
                  <a:srgbClr val="5E7A82"/>
                </a:solidFill>
                <a:latin typeface="Calibri" pitchFamily="34" charset="0"/>
                <a:ea typeface="Calibri" pitchFamily="34" charset="-122"/>
                <a:cs typeface="Calibri" pitchFamily="34" charset="-120"/>
              </a:rPr>
              <a:t>Section-aware splits. Tables stay atomic; every chunk keeps its heading breadcrumb.</a:t>
            </a:r>
            <a:endParaRPr lang="en-US" sz="1050" dirty="0"/>
          </a:p>
        </p:txBody>
      </p:sp>
      <p:sp>
        <p:nvSpPr>
          <p:cNvPr id="20" name="Shape 18"/>
          <p:cNvSpPr/>
          <p:nvPr/>
        </p:nvSpPr>
        <p:spPr>
          <a:xfrm>
            <a:off x="9006840" y="1874520"/>
            <a:ext cx="2514600" cy="1783080"/>
          </a:xfrm>
          <a:prstGeom prst="roundRect">
            <a:avLst>
              <a:gd name="adj" fmla="val 4103"/>
            </a:avLst>
          </a:prstGeom>
          <a:solidFill>
            <a:srgbClr val="E6F2F3"/>
          </a:solidFill>
          <a:ln/>
          <a:effectLst>
            <a:outerShdw sx="100000" sy="100000" kx="0" ky="0" algn="bl" rotWithShape="0" blurRad="127000" dist="25400" dir="5400000">
              <a:srgbClr val="0A3238">
                <a:alpha val="12000"/>
              </a:srgbClr>
            </a:outerShdw>
          </a:effectLst>
        </p:spPr>
      </p:sp>
      <p:sp>
        <p:nvSpPr>
          <p:cNvPr id="21" name="Shape 19"/>
          <p:cNvSpPr/>
          <p:nvPr/>
        </p:nvSpPr>
        <p:spPr>
          <a:xfrm>
            <a:off x="9208008" y="2084832"/>
            <a:ext cx="384048" cy="384048"/>
          </a:xfrm>
          <a:prstGeom prst="ellipse">
            <a:avLst/>
          </a:prstGeom>
          <a:solidFill>
            <a:srgbClr val="028090"/>
          </a:solidFill>
          <a:ln/>
        </p:spPr>
      </p:sp>
      <p:sp>
        <p:nvSpPr>
          <p:cNvPr id="22" name="Text 20"/>
          <p:cNvSpPr/>
          <p:nvPr/>
        </p:nvSpPr>
        <p:spPr>
          <a:xfrm>
            <a:off x="9208008"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9692640" y="2084832"/>
            <a:ext cx="1691640" cy="384048"/>
          </a:xfrm>
          <a:prstGeom prst="rect">
            <a:avLst/>
          </a:prstGeom>
          <a:noFill/>
          <a:ln/>
        </p:spPr>
        <p:txBody>
          <a:bodyPr wrap="square" lIns="0" tIns="0" rIns="0" bIns="0" rtlCol="0" anchor="ctr"/>
          <a:lstStyle/>
          <a:p>
            <a:pPr indent="0" marL="0">
              <a:buNone/>
            </a:pPr>
            <a:r>
              <a:rPr lang="en-US" sz="1450" b="1" dirty="0">
                <a:solidFill>
                  <a:srgbClr val="17323A"/>
                </a:solidFill>
                <a:latin typeface="Calibri" pitchFamily="34" charset="0"/>
                <a:ea typeface="Calibri" pitchFamily="34" charset="-122"/>
                <a:cs typeface="Calibri" pitchFamily="34" charset="-120"/>
              </a:rPr>
              <a:t>Embed &amp; Store</a:t>
            </a:r>
            <a:endParaRPr lang="en-US" sz="1450" dirty="0"/>
          </a:p>
        </p:txBody>
      </p:sp>
      <p:sp>
        <p:nvSpPr>
          <p:cNvPr id="24" name="Text 22"/>
          <p:cNvSpPr/>
          <p:nvPr/>
        </p:nvSpPr>
        <p:spPr>
          <a:xfrm>
            <a:off x="9208008" y="2606040"/>
            <a:ext cx="2121408" cy="1234440"/>
          </a:xfrm>
          <a:prstGeom prst="rect">
            <a:avLst/>
          </a:prstGeom>
          <a:noFill/>
          <a:ln/>
        </p:spPr>
        <p:txBody>
          <a:bodyPr wrap="square" lIns="0" tIns="0" rIns="0" bIns="0" rtlCol="0" anchor="t"/>
          <a:lstStyle/>
          <a:p>
            <a:pPr indent="0" marL="0">
              <a:lnSpc>
                <a:spcPct val="105000"/>
              </a:lnSpc>
              <a:buNone/>
            </a:pPr>
            <a:r>
              <a:rPr lang="en-US" sz="1050" dirty="0">
                <a:solidFill>
                  <a:srgbClr val="5E7A82"/>
                </a:solidFill>
                <a:latin typeface="Calibri" pitchFamily="34" charset="0"/>
                <a:ea typeface="Calibri" pitchFamily="34" charset="-122"/>
                <a:cs typeface="Calibri" pitchFamily="34" charset="-120"/>
              </a:rPr>
              <a:t>Vectors plus metadata in Atlas — filterable by document, section, and page.</a:t>
            </a:r>
            <a:endParaRPr lang="en-US" sz="1050" dirty="0"/>
          </a:p>
        </p:txBody>
      </p:sp>
      <p:sp>
        <p:nvSpPr>
          <p:cNvPr id="25" name="Shape 23"/>
          <p:cNvSpPr/>
          <p:nvPr/>
        </p:nvSpPr>
        <p:spPr>
          <a:xfrm>
            <a:off x="3163824" y="2642616"/>
            <a:ext cx="256032" cy="256032"/>
          </a:xfrm>
          <a:prstGeom prst="rightArrow">
            <a:avLst/>
          </a:prstGeom>
          <a:solidFill>
            <a:srgbClr val="9FD3D6"/>
          </a:solidFill>
          <a:ln/>
        </p:spPr>
      </p:sp>
      <p:sp>
        <p:nvSpPr>
          <p:cNvPr id="26" name="Shape 24"/>
          <p:cNvSpPr/>
          <p:nvPr/>
        </p:nvSpPr>
        <p:spPr>
          <a:xfrm>
            <a:off x="5952744" y="2642616"/>
            <a:ext cx="256032" cy="256032"/>
          </a:xfrm>
          <a:prstGeom prst="rightArrow">
            <a:avLst/>
          </a:prstGeom>
          <a:solidFill>
            <a:srgbClr val="9FD3D6"/>
          </a:solidFill>
          <a:ln/>
        </p:spPr>
      </p:sp>
      <p:sp>
        <p:nvSpPr>
          <p:cNvPr id="27" name="Shape 25"/>
          <p:cNvSpPr/>
          <p:nvPr/>
        </p:nvSpPr>
        <p:spPr>
          <a:xfrm>
            <a:off x="8741664" y="2642616"/>
            <a:ext cx="256032" cy="256032"/>
          </a:xfrm>
          <a:prstGeom prst="rightArrow">
            <a:avLst/>
          </a:prstGeom>
          <a:solidFill>
            <a:srgbClr val="9FD3D6"/>
          </a:solidFill>
          <a:ln/>
        </p:spPr>
      </p:sp>
      <p:sp>
        <p:nvSpPr>
          <p:cNvPr id="28" name="Shape 26"/>
          <p:cNvSpPr/>
          <p:nvPr/>
        </p:nvSpPr>
        <p:spPr>
          <a:xfrm>
            <a:off x="594360" y="4069080"/>
            <a:ext cx="3502152" cy="1371600"/>
          </a:xfrm>
          <a:prstGeom prst="roundRect">
            <a:avLst>
              <a:gd name="adj" fmla="val 5333"/>
            </a:avLst>
          </a:prstGeom>
          <a:solidFill>
            <a:srgbClr val="FFFFFF"/>
          </a:solidFill>
          <a:ln w="12700">
            <a:solidFill>
              <a:srgbClr val="D6E4E6"/>
            </a:solidFill>
            <a:prstDash val="solid"/>
          </a:ln>
        </p:spPr>
      </p:sp>
      <p:sp>
        <p:nvSpPr>
          <p:cNvPr id="29" name="Shape 27"/>
          <p:cNvSpPr/>
          <p:nvPr/>
        </p:nvSpPr>
        <p:spPr>
          <a:xfrm>
            <a:off x="822960" y="4297680"/>
            <a:ext cx="146304" cy="146304"/>
          </a:xfrm>
          <a:prstGeom prst="ellipse">
            <a:avLst/>
          </a:prstGeom>
          <a:solidFill>
            <a:srgbClr val="D9683F"/>
          </a:solidFill>
          <a:ln/>
        </p:spPr>
      </p:sp>
      <p:sp>
        <p:nvSpPr>
          <p:cNvPr id="30" name="Text 28"/>
          <p:cNvSpPr/>
          <p:nvPr/>
        </p:nvSpPr>
        <p:spPr>
          <a:xfrm>
            <a:off x="1069848" y="4233672"/>
            <a:ext cx="2834640" cy="274320"/>
          </a:xfrm>
          <a:prstGeom prst="rect">
            <a:avLst/>
          </a:prstGeom>
          <a:noFill/>
          <a:ln/>
        </p:spPr>
        <p:txBody>
          <a:bodyPr wrap="square" lIns="0" tIns="0" rIns="0" bIns="0" rtlCol="0" anchor="ctr"/>
          <a:lstStyle/>
          <a:p>
            <a:pPr indent="0" marL="0">
              <a:buNone/>
            </a:pPr>
            <a:r>
              <a:rPr lang="en-US" sz="1250" b="1" dirty="0">
                <a:solidFill>
                  <a:srgbClr val="17323A"/>
                </a:solidFill>
                <a:latin typeface="Calibri" pitchFamily="34" charset="0"/>
                <a:ea typeface="Calibri" pitchFamily="34" charset="-122"/>
                <a:cs typeface="Calibri" pitchFamily="34" charset="-120"/>
              </a:rPr>
              <a:t>Markdown file</a:t>
            </a:r>
            <a:endParaRPr lang="en-US" sz="1250" dirty="0"/>
          </a:p>
        </p:txBody>
      </p:sp>
      <p:sp>
        <p:nvSpPr>
          <p:cNvPr id="31" name="Text 29"/>
          <p:cNvSpPr/>
          <p:nvPr/>
        </p:nvSpPr>
        <p:spPr>
          <a:xfrm>
            <a:off x="1069848" y="4526280"/>
            <a:ext cx="2834640" cy="777240"/>
          </a:xfrm>
          <a:prstGeom prst="rect">
            <a:avLst/>
          </a:prstGeom>
          <a:noFill/>
          <a:ln/>
        </p:spPr>
        <p:txBody>
          <a:bodyPr wrap="square" lIns="0" tIns="0" rIns="0" bIns="0" rtlCol="0" anchor="t"/>
          <a:lstStyle/>
          <a:p>
            <a:pPr indent="0" marL="0">
              <a:lnSpc>
                <a:spcPct val="105000"/>
              </a:lnSpc>
              <a:buNone/>
            </a:pPr>
            <a:r>
              <a:rPr lang="en-US" sz="1000" dirty="0">
                <a:solidFill>
                  <a:srgbClr val="5E7A82"/>
                </a:solidFill>
                <a:latin typeface="Calibri" pitchFamily="34" charset="0"/>
                <a:ea typeface="Calibri" pitchFamily="34" charset="-122"/>
                <a:cs typeface="Calibri" pitchFamily="34" charset="-120"/>
              </a:rPr>
              <a:t>Reviewable and correctable before you spend a cent on embeddings.</a:t>
            </a:r>
            <a:endParaRPr lang="en-US" sz="1000" dirty="0"/>
          </a:p>
        </p:txBody>
      </p:sp>
      <p:sp>
        <p:nvSpPr>
          <p:cNvPr id="32" name="Shape 30"/>
          <p:cNvSpPr/>
          <p:nvPr/>
        </p:nvSpPr>
        <p:spPr>
          <a:xfrm>
            <a:off x="4398264" y="4069080"/>
            <a:ext cx="3502152" cy="1371600"/>
          </a:xfrm>
          <a:prstGeom prst="roundRect">
            <a:avLst>
              <a:gd name="adj" fmla="val 5333"/>
            </a:avLst>
          </a:prstGeom>
          <a:solidFill>
            <a:srgbClr val="FFFFFF"/>
          </a:solidFill>
          <a:ln w="12700">
            <a:solidFill>
              <a:srgbClr val="D6E4E6"/>
            </a:solidFill>
            <a:prstDash val="solid"/>
          </a:ln>
        </p:spPr>
      </p:sp>
      <p:sp>
        <p:nvSpPr>
          <p:cNvPr id="33" name="Shape 31"/>
          <p:cNvSpPr/>
          <p:nvPr/>
        </p:nvSpPr>
        <p:spPr>
          <a:xfrm>
            <a:off x="4626864" y="4297680"/>
            <a:ext cx="146304" cy="146304"/>
          </a:xfrm>
          <a:prstGeom prst="ellipse">
            <a:avLst/>
          </a:prstGeom>
          <a:solidFill>
            <a:srgbClr val="D9683F"/>
          </a:solidFill>
          <a:ln/>
        </p:spPr>
      </p:sp>
      <p:sp>
        <p:nvSpPr>
          <p:cNvPr id="34" name="Text 32"/>
          <p:cNvSpPr/>
          <p:nvPr/>
        </p:nvSpPr>
        <p:spPr>
          <a:xfrm>
            <a:off x="4873752" y="4233672"/>
            <a:ext cx="2834640" cy="274320"/>
          </a:xfrm>
          <a:prstGeom prst="rect">
            <a:avLst/>
          </a:prstGeom>
          <a:noFill/>
          <a:ln/>
        </p:spPr>
        <p:txBody>
          <a:bodyPr wrap="square" lIns="0" tIns="0" rIns="0" bIns="0" rtlCol="0" anchor="ctr"/>
          <a:lstStyle/>
          <a:p>
            <a:pPr indent="0" marL="0">
              <a:buNone/>
            </a:pPr>
            <a:r>
              <a:rPr lang="en-US" sz="1250" b="1" dirty="0">
                <a:solidFill>
                  <a:srgbClr val="17323A"/>
                </a:solidFill>
                <a:latin typeface="Calibri" pitchFamily="34" charset="0"/>
                <a:ea typeface="Calibri" pitchFamily="34" charset="-122"/>
                <a:cs typeface="Calibri" pitchFamily="34" charset="-120"/>
              </a:rPr>
              <a:t>Table structure JSON</a:t>
            </a:r>
            <a:endParaRPr lang="en-US" sz="1250" dirty="0"/>
          </a:p>
        </p:txBody>
      </p:sp>
      <p:sp>
        <p:nvSpPr>
          <p:cNvPr id="35" name="Text 33"/>
          <p:cNvSpPr/>
          <p:nvPr/>
        </p:nvSpPr>
        <p:spPr>
          <a:xfrm>
            <a:off x="4873752" y="4526280"/>
            <a:ext cx="2834640" cy="777240"/>
          </a:xfrm>
          <a:prstGeom prst="rect">
            <a:avLst/>
          </a:prstGeom>
          <a:noFill/>
          <a:ln/>
        </p:spPr>
        <p:txBody>
          <a:bodyPr wrap="square" lIns="0" tIns="0" rIns="0" bIns="0" rtlCol="0" anchor="t"/>
          <a:lstStyle/>
          <a:p>
            <a:pPr indent="0" marL="0">
              <a:lnSpc>
                <a:spcPct val="105000"/>
              </a:lnSpc>
              <a:buNone/>
            </a:pPr>
            <a:r>
              <a:rPr lang="en-US" sz="1000" dirty="0">
                <a:solidFill>
                  <a:srgbClr val="5E7A82"/>
                </a:solidFill>
                <a:latin typeface="Calibri" pitchFamily="34" charset="0"/>
                <a:ea typeface="Calibri" pitchFamily="34" charset="-122"/>
                <a:cs typeface="Calibri" pitchFamily="34" charset="-120"/>
              </a:rPr>
              <a:t>Every cell with its true rowspan and colspan — the audit trail.</a:t>
            </a:r>
            <a:endParaRPr lang="en-US" sz="1000" dirty="0"/>
          </a:p>
        </p:txBody>
      </p:sp>
      <p:sp>
        <p:nvSpPr>
          <p:cNvPr id="36" name="Shape 34"/>
          <p:cNvSpPr/>
          <p:nvPr/>
        </p:nvSpPr>
        <p:spPr>
          <a:xfrm>
            <a:off x="8202168" y="4069080"/>
            <a:ext cx="3502152" cy="1371600"/>
          </a:xfrm>
          <a:prstGeom prst="roundRect">
            <a:avLst>
              <a:gd name="adj" fmla="val 5333"/>
            </a:avLst>
          </a:prstGeom>
          <a:solidFill>
            <a:srgbClr val="FFFFFF"/>
          </a:solidFill>
          <a:ln w="12700">
            <a:solidFill>
              <a:srgbClr val="D6E4E6"/>
            </a:solidFill>
            <a:prstDash val="solid"/>
          </a:ln>
        </p:spPr>
      </p:sp>
      <p:sp>
        <p:nvSpPr>
          <p:cNvPr id="37" name="Shape 35"/>
          <p:cNvSpPr/>
          <p:nvPr/>
        </p:nvSpPr>
        <p:spPr>
          <a:xfrm>
            <a:off x="8430768" y="4297680"/>
            <a:ext cx="146304" cy="146304"/>
          </a:xfrm>
          <a:prstGeom prst="ellipse">
            <a:avLst/>
          </a:prstGeom>
          <a:solidFill>
            <a:srgbClr val="D9683F"/>
          </a:solidFill>
          <a:ln/>
        </p:spPr>
      </p:sp>
      <p:sp>
        <p:nvSpPr>
          <p:cNvPr id="38" name="Text 36"/>
          <p:cNvSpPr/>
          <p:nvPr/>
        </p:nvSpPr>
        <p:spPr>
          <a:xfrm>
            <a:off x="8677656" y="4233672"/>
            <a:ext cx="2834640" cy="274320"/>
          </a:xfrm>
          <a:prstGeom prst="rect">
            <a:avLst/>
          </a:prstGeom>
          <a:noFill/>
          <a:ln/>
        </p:spPr>
        <p:txBody>
          <a:bodyPr wrap="square" lIns="0" tIns="0" rIns="0" bIns="0" rtlCol="0" anchor="ctr"/>
          <a:lstStyle/>
          <a:p>
            <a:pPr indent="0" marL="0">
              <a:buNone/>
            </a:pPr>
            <a:r>
              <a:rPr lang="en-US" sz="1250" b="1" dirty="0">
                <a:solidFill>
                  <a:srgbClr val="17323A"/>
                </a:solidFill>
                <a:latin typeface="Calibri" pitchFamily="34" charset="0"/>
                <a:ea typeface="Calibri" pitchFamily="34" charset="-122"/>
                <a:cs typeface="Calibri" pitchFamily="34" charset="-120"/>
              </a:rPr>
              <a:t>Atlas vector store</a:t>
            </a:r>
            <a:endParaRPr lang="en-US" sz="1250" dirty="0"/>
          </a:p>
        </p:txBody>
      </p:sp>
      <p:sp>
        <p:nvSpPr>
          <p:cNvPr id="39" name="Text 37"/>
          <p:cNvSpPr/>
          <p:nvPr/>
        </p:nvSpPr>
        <p:spPr>
          <a:xfrm>
            <a:off x="8677656" y="4526280"/>
            <a:ext cx="2834640" cy="777240"/>
          </a:xfrm>
          <a:prstGeom prst="rect">
            <a:avLst/>
          </a:prstGeom>
          <a:noFill/>
          <a:ln/>
        </p:spPr>
        <p:txBody>
          <a:bodyPr wrap="square" lIns="0" tIns="0" rIns="0" bIns="0" rtlCol="0" anchor="t"/>
          <a:lstStyle/>
          <a:p>
            <a:pPr indent="0" marL="0">
              <a:lnSpc>
                <a:spcPct val="105000"/>
              </a:lnSpc>
              <a:buNone/>
            </a:pPr>
            <a:r>
              <a:rPr lang="en-US" sz="1000" dirty="0">
                <a:solidFill>
                  <a:srgbClr val="5E7A82"/>
                </a:solidFill>
                <a:latin typeface="Calibri" pitchFamily="34" charset="0"/>
                <a:ea typeface="Calibri" pitchFamily="34" charset="-122"/>
                <a:cs typeface="Calibri" pitchFamily="34" charset="-120"/>
              </a:rPr>
              <a:t>Queryable with citations back to section and page.</a:t>
            </a:r>
            <a:endParaRPr lang="en-US" sz="1000" dirty="0"/>
          </a:p>
        </p:txBody>
      </p:sp>
      <p:sp>
        <p:nvSpPr>
          <p:cNvPr id="40" name="Text 38"/>
          <p:cNvSpPr/>
          <p:nvPr/>
        </p:nvSpPr>
        <p:spPr>
          <a:xfrm>
            <a:off x="594360" y="5760720"/>
            <a:ext cx="10881360" cy="384048"/>
          </a:xfrm>
          <a:prstGeom prst="rect">
            <a:avLst/>
          </a:prstGeom>
          <a:noFill/>
          <a:ln/>
        </p:spPr>
        <p:txBody>
          <a:bodyPr wrap="square" lIns="0" tIns="0" rIns="0" bIns="0" rtlCol="0" anchor="ctr"/>
          <a:lstStyle/>
          <a:p>
            <a:pPr indent="0" marL="0">
              <a:buNone/>
            </a:pPr>
            <a:r>
              <a:rPr lang="en-US" sz="1300" b="1" i="1" dirty="0">
                <a:solidFill>
                  <a:srgbClr val="028090"/>
                </a:solidFill>
                <a:latin typeface="Calibri" pitchFamily="34" charset="0"/>
                <a:ea typeface="Calibri" pitchFamily="34" charset="-122"/>
                <a:cs typeface="Calibri" pitchFamily="34" charset="-120"/>
              </a:rPr>
              <a:t>Markdown is a checkpoint, not a formality — the cheapest place to catch a problem.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56032"/>
            <a:ext cx="1088136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TECHNICAL CONSIDERATIONS · 1 OF 2</a:t>
            </a:r>
            <a:endParaRPr lang="en-US" sz="1100" dirty="0"/>
          </a:p>
        </p:txBody>
      </p:sp>
      <p:sp>
        <p:nvSpPr>
          <p:cNvPr id="3" name="Text 1"/>
          <p:cNvSpPr/>
          <p:nvPr/>
        </p:nvSpPr>
        <p:spPr>
          <a:xfrm>
            <a:off x="594360" y="548640"/>
            <a:ext cx="10881360" cy="868680"/>
          </a:xfrm>
          <a:prstGeom prst="rect">
            <a:avLst/>
          </a:prstGeom>
          <a:noFill/>
          <a:ln/>
        </p:spPr>
        <p:txBody>
          <a:bodyPr wrap="square" lIns="0" tIns="0" rIns="0" bIns="0" rtlCol="0" anchor="ctr"/>
          <a:lstStyle/>
          <a:p>
            <a:pPr algn="l" indent="0" marL="0">
              <a:buNone/>
            </a:pPr>
            <a:r>
              <a:rPr lang="en-US" sz="3100" b="1" dirty="0">
                <a:solidFill>
                  <a:srgbClr val="17323A"/>
                </a:solidFill>
                <a:latin typeface="Cambria" pitchFamily="34" charset="0"/>
                <a:ea typeface="Cambria" pitchFamily="34" charset="-122"/>
                <a:cs typeface="Cambria" pitchFamily="34" charset="-120"/>
              </a:rPr>
              <a:t>Why Markdown, and Why Faithful Markdown Is Hard</a:t>
            </a:r>
            <a:endParaRPr lang="en-US" sz="3100" dirty="0"/>
          </a:p>
        </p:txBody>
      </p:sp>
      <p:sp>
        <p:nvSpPr>
          <p:cNvPr id="4" name="Shape 2"/>
          <p:cNvSpPr/>
          <p:nvPr/>
        </p:nvSpPr>
        <p:spPr>
          <a:xfrm>
            <a:off x="594360" y="1554480"/>
            <a:ext cx="5394960" cy="3017520"/>
          </a:xfrm>
          <a:prstGeom prst="roundRect">
            <a:avLst>
              <a:gd name="adj" fmla="val 2424"/>
            </a:avLst>
          </a:prstGeom>
          <a:solidFill>
            <a:srgbClr val="F2F7F8"/>
          </a:solidFill>
          <a:ln/>
        </p:spPr>
      </p:sp>
      <p:sp>
        <p:nvSpPr>
          <p:cNvPr id="5" name="Text 3"/>
          <p:cNvSpPr/>
          <p:nvPr/>
        </p:nvSpPr>
        <p:spPr>
          <a:xfrm>
            <a:off x="868680" y="1755648"/>
            <a:ext cx="4846320" cy="292608"/>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Why Markdown at all</a:t>
            </a:r>
            <a:endParaRPr lang="en-US" sz="1400" dirty="0"/>
          </a:p>
        </p:txBody>
      </p:sp>
      <p:sp>
        <p:nvSpPr>
          <p:cNvPr id="6" name="Text 4"/>
          <p:cNvSpPr/>
          <p:nvPr/>
        </p:nvSpPr>
        <p:spPr>
          <a:xfrm>
            <a:off x="868680" y="2212848"/>
            <a:ext cx="4892040" cy="2286000"/>
          </a:xfrm>
          <a:prstGeom prst="rect">
            <a:avLst/>
          </a:prstGeom>
          <a:noFill/>
          <a:ln/>
        </p:spPr>
        <p:txBody>
          <a:bodyPr wrap="square" lIns="0" tIns="0" rIns="0" bIns="0" rtlCol="0" anchor="t"/>
          <a:lstStyle/>
          <a:p>
            <a:pPr marL="177800" indent="-177800">
              <a:lnSpc>
                <a:spcPct val="100000"/>
              </a:lnSpc>
              <a:spcAft>
                <a:spcPts val="1300"/>
              </a:spcAft>
              <a:buSzPct val="100000"/>
              <a:buChar char="•"/>
            </a:pPr>
            <a:r>
              <a:rPr lang="en-US" sz="1250" dirty="0">
                <a:solidFill>
                  <a:srgbClr val="17323A"/>
                </a:solidFill>
                <a:latin typeface="Calibri" pitchFamily="34" charset="0"/>
                <a:ea typeface="Calibri" pitchFamily="34" charset="-122"/>
                <a:cs typeface="Calibri" pitchFamily="34" charset="-120"/>
              </a:rPr>
              <a:t>PDF is a layout format — glyph positions, no notion of section or table</a:t>
            </a:r>
            <a:endParaRPr lang="en-US" sz="1250" dirty="0"/>
          </a:p>
          <a:p>
            <a:pPr marL="177800" indent="-177800">
              <a:lnSpc>
                <a:spcPct val="100000"/>
              </a:lnSpc>
              <a:spcAft>
                <a:spcPts val="1300"/>
              </a:spcAft>
              <a:buSzPct val="100000"/>
              <a:buChar char="•"/>
            </a:pPr>
            <a:r>
              <a:rPr lang="en-US" sz="1250" dirty="0">
                <a:solidFill>
                  <a:srgbClr val="17323A"/>
                </a:solidFill>
                <a:latin typeface="Calibri" pitchFamily="34" charset="0"/>
                <a:ea typeface="Calibri" pitchFamily="34" charset="-122"/>
                <a:cs typeface="Calibri" pitchFamily="34" charset="-120"/>
              </a:rPr>
              <a:t>Markdown makes hierarchy explicit, so it can become chunk metadata</a:t>
            </a:r>
            <a:endParaRPr lang="en-US" sz="1250" dirty="0"/>
          </a:p>
          <a:p>
            <a:pPr marL="177800" indent="-177800">
              <a:lnSpc>
                <a:spcPct val="100000"/>
              </a:lnSpc>
              <a:spcAft>
                <a:spcPts val="1300"/>
              </a:spcAft>
              <a:buSzPct val="100000"/>
              <a:buChar char="•"/>
            </a:pPr>
            <a:r>
              <a:rPr lang="en-US" sz="1250" dirty="0">
                <a:solidFill>
                  <a:srgbClr val="17323A"/>
                </a:solidFill>
                <a:latin typeface="Calibri" pitchFamily="34" charset="0"/>
                <a:ea typeface="Calibri" pitchFamily="34" charset="-122"/>
                <a:cs typeface="Calibri" pitchFamily="34" charset="-120"/>
              </a:rPr>
              <a:t>Plain text: embeds directly, and LLMs read Markdown tables natively</a:t>
            </a:r>
            <a:endParaRPr lang="en-US" sz="1250" dirty="0"/>
          </a:p>
          <a:p>
            <a:pPr marL="177800" indent="-177800">
              <a:lnSpc>
                <a:spcPct val="100000"/>
              </a:lnSpc>
              <a:spcAft>
                <a:spcPts val="1300"/>
              </a:spcAft>
              <a:buSzPct val="100000"/>
              <a:buChar char="•"/>
            </a:pPr>
            <a:r>
              <a:rPr lang="en-US" sz="1250" dirty="0">
                <a:solidFill>
                  <a:srgbClr val="17323A"/>
                </a:solidFill>
                <a:latin typeface="Calibri" pitchFamily="34" charset="0"/>
                <a:ea typeface="Calibri" pitchFamily="34" charset="-122"/>
                <a:cs typeface="Calibri" pitchFamily="34" charset="-120"/>
              </a:rPr>
              <a:t>Human-readable and diffable, so it can be reviewed and corrected</a:t>
            </a:r>
            <a:endParaRPr lang="en-US" sz="1250" dirty="0"/>
          </a:p>
          <a:p>
            <a:pPr marL="177800" indent="-177800">
              <a:lnSpc>
                <a:spcPct val="100000"/>
              </a:lnSpc>
              <a:spcAft>
                <a:spcPts val="1300"/>
              </a:spcAft>
              <a:buSzPct val="100000"/>
              <a:buChar char="•"/>
            </a:pPr>
            <a:r>
              <a:rPr lang="en-US" sz="1250" dirty="0">
                <a:solidFill>
                  <a:srgbClr val="17323A"/>
                </a:solidFill>
                <a:latin typeface="Calibri" pitchFamily="34" charset="0"/>
                <a:ea typeface="Calibri" pitchFamily="34" charset="-122"/>
                <a:cs typeface="Calibri" pitchFamily="34" charset="-120"/>
              </a:rPr>
              <a:t>Decouples extraction from indexing — re-chunk without re-parsing</a:t>
            </a:r>
            <a:endParaRPr lang="en-US" sz="1250" dirty="0"/>
          </a:p>
        </p:txBody>
      </p:sp>
      <p:sp>
        <p:nvSpPr>
          <p:cNvPr id="7" name="Shape 5"/>
          <p:cNvSpPr/>
          <p:nvPr/>
        </p:nvSpPr>
        <p:spPr>
          <a:xfrm>
            <a:off x="6199632" y="1554480"/>
            <a:ext cx="5394960" cy="3017520"/>
          </a:xfrm>
          <a:prstGeom prst="roundRect">
            <a:avLst>
              <a:gd name="adj" fmla="val 2424"/>
            </a:avLst>
          </a:prstGeom>
          <a:solidFill>
            <a:srgbClr val="F2F7F8"/>
          </a:solidFill>
          <a:ln/>
        </p:spPr>
      </p:sp>
      <p:sp>
        <p:nvSpPr>
          <p:cNvPr id="8" name="Text 6"/>
          <p:cNvSpPr/>
          <p:nvPr/>
        </p:nvSpPr>
        <p:spPr>
          <a:xfrm>
            <a:off x="6473952" y="1755648"/>
            <a:ext cx="4846320" cy="292608"/>
          </a:xfrm>
          <a:prstGeom prst="rect">
            <a:avLst/>
          </a:prstGeom>
          <a:noFill/>
          <a:ln/>
        </p:spPr>
        <p:txBody>
          <a:bodyPr wrap="square" lIns="0" tIns="0" rIns="0" bIns="0" rtlCol="0" anchor="ctr"/>
          <a:lstStyle/>
          <a:p>
            <a:pPr indent="0" marL="0">
              <a:buNone/>
            </a:pPr>
            <a:r>
              <a:rPr lang="en-US" sz="1400" b="1" dirty="0">
                <a:solidFill>
                  <a:srgbClr val="D9683F"/>
                </a:solidFill>
                <a:latin typeface="Calibri" pitchFamily="34" charset="0"/>
                <a:ea typeface="Calibri" pitchFamily="34" charset="-122"/>
                <a:cs typeface="Calibri" pitchFamily="34" charset="-120"/>
              </a:rPr>
              <a:t>Why fidelity is hard</a:t>
            </a:r>
            <a:endParaRPr lang="en-US" sz="1400" dirty="0"/>
          </a:p>
        </p:txBody>
      </p:sp>
      <p:sp>
        <p:nvSpPr>
          <p:cNvPr id="9" name="Text 7"/>
          <p:cNvSpPr/>
          <p:nvPr/>
        </p:nvSpPr>
        <p:spPr>
          <a:xfrm>
            <a:off x="6473952" y="2212848"/>
            <a:ext cx="4892040" cy="2286000"/>
          </a:xfrm>
          <a:prstGeom prst="rect">
            <a:avLst/>
          </a:prstGeom>
          <a:noFill/>
          <a:ln/>
        </p:spPr>
        <p:txBody>
          <a:bodyPr wrap="square" lIns="0" tIns="0" rIns="0" bIns="0" rtlCol="0" anchor="t"/>
          <a:lstStyle/>
          <a:p>
            <a:pPr marL="177800" indent="-177800">
              <a:lnSpc>
                <a:spcPct val="100000"/>
              </a:lnSpc>
              <a:spcAft>
                <a:spcPts val="800"/>
              </a:spcAft>
              <a:buSzPct val="100000"/>
              <a:buChar char="•"/>
            </a:pPr>
            <a:r>
              <a:rPr lang="en-US" sz="1250" dirty="0">
                <a:solidFill>
                  <a:srgbClr val="17323A"/>
                </a:solidFill>
                <a:latin typeface="Calibri" pitchFamily="34" charset="0"/>
                <a:ea typeface="Calibri" pitchFamily="34" charset="-122"/>
                <a:cs typeface="Calibri" pitchFamily="34" charset="-120"/>
              </a:rPr>
              <a:t>No reading order — sentence order has to be inferred from geometry</a:t>
            </a:r>
            <a:endParaRPr lang="en-US" sz="1250" dirty="0"/>
          </a:p>
          <a:p>
            <a:pPr marL="177800" indent="-177800">
              <a:lnSpc>
                <a:spcPct val="100000"/>
              </a:lnSpc>
              <a:spcAft>
                <a:spcPts val="800"/>
              </a:spcAft>
              <a:buSzPct val="100000"/>
              <a:buChar char="•"/>
            </a:pPr>
            <a:r>
              <a:rPr lang="en-US" sz="1250" dirty="0">
                <a:solidFill>
                  <a:srgbClr val="17323A"/>
                </a:solidFill>
                <a:latin typeface="Calibri" pitchFamily="34" charset="0"/>
                <a:ea typeface="Calibri" pitchFamily="34" charset="-122"/>
                <a:cs typeface="Calibri" pitchFamily="34" charset="-120"/>
              </a:rPr>
              <a:t>Headings are visual, not tagged: only size, weight, and casing</a:t>
            </a:r>
            <a:endParaRPr lang="en-US" sz="1250" dirty="0"/>
          </a:p>
          <a:p>
            <a:pPr marL="177800" indent="-177800">
              <a:lnSpc>
                <a:spcPct val="100000"/>
              </a:lnSpc>
              <a:spcAft>
                <a:spcPts val="800"/>
              </a:spcAft>
              <a:buSzPct val="100000"/>
              <a:buChar char="•"/>
            </a:pPr>
            <a:r>
              <a:rPr lang="en-US" sz="1250" dirty="0">
                <a:solidFill>
                  <a:srgbClr val="17323A"/>
                </a:solidFill>
                <a:latin typeface="Calibri" pitchFamily="34" charset="0"/>
                <a:ea typeface="Calibri" pitchFamily="34" charset="-122"/>
                <a:cs typeface="Calibri" pitchFamily="34" charset="-120"/>
              </a:rPr>
              <a:t>Running headers and footers repeat across all 200 pages</a:t>
            </a:r>
            <a:endParaRPr lang="en-US" sz="1250" dirty="0"/>
          </a:p>
          <a:p>
            <a:pPr marL="177800" indent="-177800">
              <a:lnSpc>
                <a:spcPct val="100000"/>
              </a:lnSpc>
              <a:spcAft>
                <a:spcPts val="800"/>
              </a:spcAft>
              <a:buSzPct val="100000"/>
              <a:buChar char="•"/>
            </a:pPr>
            <a:r>
              <a:rPr lang="en-US" sz="1250" dirty="0">
                <a:solidFill>
                  <a:srgbClr val="17323A"/>
                </a:solidFill>
                <a:latin typeface="Calibri" pitchFamily="34" charset="0"/>
                <a:ea typeface="Calibri" pitchFamily="34" charset="-122"/>
                <a:cs typeface="Calibri" pitchFamily="34" charset="-120"/>
              </a:rPr>
              <a:t>Words break across lines — hyphenation must be rejoined</a:t>
            </a:r>
            <a:endParaRPr lang="en-US" sz="1250" dirty="0"/>
          </a:p>
          <a:p>
            <a:pPr marL="177800" indent="-177800">
              <a:lnSpc>
                <a:spcPct val="100000"/>
              </a:lnSpc>
              <a:spcAft>
                <a:spcPts val="800"/>
              </a:spcAft>
              <a:buSzPct val="100000"/>
              <a:buChar char="•"/>
            </a:pPr>
            <a:r>
              <a:rPr lang="en-US" sz="1250" dirty="0">
                <a:solidFill>
                  <a:srgbClr val="17323A"/>
                </a:solidFill>
                <a:latin typeface="Calibri" pitchFamily="34" charset="0"/>
                <a:ea typeface="Calibri" pitchFamily="34" charset="-122"/>
                <a:cs typeface="Calibri" pitchFamily="34" charset="-120"/>
              </a:rPr>
              <a:t>Tables interleave with prose: extract them, then put them back</a:t>
            </a:r>
            <a:endParaRPr lang="en-US" sz="1250" dirty="0"/>
          </a:p>
          <a:p>
            <a:pPr marL="177800" indent="-177800">
              <a:lnSpc>
                <a:spcPct val="100000"/>
              </a:lnSpc>
              <a:spcAft>
                <a:spcPts val="800"/>
              </a:spcAft>
              <a:buSzPct val="100000"/>
              <a:buChar char="•"/>
            </a:pPr>
            <a:r>
              <a:rPr lang="en-US" sz="1250" dirty="0">
                <a:solidFill>
                  <a:srgbClr val="17323A"/>
                </a:solidFill>
                <a:latin typeface="Calibri" pitchFamily="34" charset="0"/>
                <a:ea typeface="Calibri" pitchFamily="34" charset="-122"/>
                <a:cs typeface="Calibri" pitchFamily="34" charset="-120"/>
              </a:rPr>
              <a:t>No rowspan or colspan syntax exists in Markdown at all</a:t>
            </a:r>
            <a:endParaRPr lang="en-US" sz="1250" dirty="0"/>
          </a:p>
        </p:txBody>
      </p:sp>
      <p:sp>
        <p:nvSpPr>
          <p:cNvPr id="10" name="Shape 8"/>
          <p:cNvSpPr/>
          <p:nvPr/>
        </p:nvSpPr>
        <p:spPr>
          <a:xfrm>
            <a:off x="594360" y="4846320"/>
            <a:ext cx="11000232" cy="1325880"/>
          </a:xfrm>
          <a:prstGeom prst="roundRect">
            <a:avLst>
              <a:gd name="adj" fmla="val 5517"/>
            </a:avLst>
          </a:prstGeom>
          <a:solidFill>
            <a:srgbClr val="FBEDE7"/>
          </a:solidFill>
          <a:ln/>
        </p:spPr>
      </p:sp>
      <p:sp>
        <p:nvSpPr>
          <p:cNvPr id="11" name="Text 9"/>
          <p:cNvSpPr/>
          <p:nvPr/>
        </p:nvSpPr>
        <p:spPr>
          <a:xfrm>
            <a:off x="896112" y="4983480"/>
            <a:ext cx="10424160" cy="1051560"/>
          </a:xfrm>
          <a:prstGeom prst="rect">
            <a:avLst/>
          </a:prstGeom>
          <a:noFill/>
          <a:ln/>
        </p:spPr>
        <p:txBody>
          <a:bodyPr wrap="square" lIns="0" tIns="0" rIns="0" bIns="0" rtlCol="0" anchor="ctr"/>
          <a:lstStyle/>
          <a:p>
            <a:pPr indent="0" marL="0">
              <a:lnSpc>
                <a:spcPct val="115000"/>
              </a:lnSpc>
              <a:buNone/>
            </a:pPr>
            <a:r>
              <a:rPr lang="en-US" sz="1250" b="1" dirty="0">
                <a:solidFill>
                  <a:srgbClr val="17323A"/>
                </a:solidFill>
                <a:latin typeface="Calibri" pitchFamily="34" charset="0"/>
                <a:ea typeface="Calibri" pitchFamily="34" charset="-122"/>
                <a:cs typeface="Calibri" pitchFamily="34" charset="-120"/>
              </a:rPr>
              <a:t>The merged-cell gap has no clean fix — you choose which loss to accept.   </a:t>
            </a:r>
            <a:pPr indent="0" marL="0">
              <a:lnSpc>
                <a:spcPct val="115000"/>
              </a:lnSpc>
              <a:buNone/>
            </a:pPr>
            <a:r>
              <a:rPr lang="en-US" sz="1250" b="1" dirty="0">
                <a:solidFill>
                  <a:srgbClr val="D9683F"/>
                </a:solidFill>
                <a:latin typeface="Calibri" pitchFamily="34" charset="0"/>
                <a:ea typeface="Calibri" pitchFamily="34" charset="-122"/>
                <a:cs typeface="Calibri" pitchFamily="34" charset="-120"/>
              </a:rPr>
              <a:t>Propagated pipe tables</a:t>
            </a:r>
            <a:pPr indent="0" marL="0">
              <a:lnSpc>
                <a:spcPct val="115000"/>
              </a:lnSpc>
              <a:buNone/>
            </a:pPr>
            <a:r>
              <a:rPr lang="en-US" sz="1250" dirty="0">
                <a:solidFill>
                  <a:srgbClr val="17323A"/>
                </a:solidFill>
                <a:latin typeface="Calibri" pitchFamily="34" charset="0"/>
                <a:ea typeface="Calibri" pitchFamily="34" charset="-122"/>
                <a:cs typeface="Calibri" pitchFamily="34" charset="-120"/>
              </a:rPr>
              <a:t> give self-contained rows for embedding.   </a:t>
            </a:r>
            <a:pPr indent="0" marL="0">
              <a:lnSpc>
                <a:spcPct val="115000"/>
              </a:lnSpc>
              <a:buNone/>
            </a:pPr>
            <a:r>
              <a:rPr lang="en-US" sz="1250" b="1" dirty="0">
                <a:solidFill>
                  <a:srgbClr val="D9683F"/>
                </a:solidFill>
                <a:latin typeface="Calibri" pitchFamily="34" charset="0"/>
                <a:ea typeface="Calibri" pitchFamily="34" charset="-122"/>
                <a:cs typeface="Calibri" pitchFamily="34" charset="-120"/>
              </a:rPr>
              <a:t>Cell-level JSON</a:t>
            </a:r>
            <a:pPr indent="0" marL="0">
              <a:lnSpc>
                <a:spcPct val="115000"/>
              </a:lnSpc>
              <a:buNone/>
            </a:pPr>
            <a:r>
              <a:rPr lang="en-US" sz="1250" dirty="0">
                <a:solidFill>
                  <a:srgbClr val="17323A"/>
                </a:solidFill>
                <a:latin typeface="Calibri" pitchFamily="34" charset="0"/>
                <a:ea typeface="Calibri" pitchFamily="34" charset="-122"/>
                <a:cs typeface="Calibri" pitchFamily="34" charset="-120"/>
              </a:rPr>
              <a:t> preserves exact spans for audit. We emit both, so fidelity and retrieval quality don't have to be traded against each other.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56032"/>
            <a:ext cx="1088136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TECHNICAL CONSIDERATIONS · 2 OF 2</a:t>
            </a:r>
            <a:endParaRPr lang="en-US" sz="1100" dirty="0"/>
          </a:p>
        </p:txBody>
      </p:sp>
      <p:sp>
        <p:nvSpPr>
          <p:cNvPr id="3" name="Text 1"/>
          <p:cNvSpPr/>
          <p:nvPr/>
        </p:nvSpPr>
        <p:spPr>
          <a:xfrm>
            <a:off x="594360" y="548640"/>
            <a:ext cx="10881360" cy="868680"/>
          </a:xfrm>
          <a:prstGeom prst="rect">
            <a:avLst/>
          </a:prstGeom>
          <a:noFill/>
          <a:ln/>
        </p:spPr>
        <p:txBody>
          <a:bodyPr wrap="square" lIns="0" tIns="0" rIns="0" bIns="0" rtlCol="0" anchor="ctr"/>
          <a:lstStyle/>
          <a:p>
            <a:pPr algn="l" indent="0" marL="0">
              <a:buNone/>
            </a:pPr>
            <a:r>
              <a:rPr lang="en-US" sz="3100" b="1" dirty="0">
                <a:solidFill>
                  <a:srgbClr val="17323A"/>
                </a:solidFill>
                <a:latin typeface="Cambria" pitchFamily="34" charset="0"/>
                <a:ea typeface="Cambria" pitchFamily="34" charset="-122"/>
                <a:cs typeface="Cambria" pitchFamily="34" charset="-120"/>
              </a:rPr>
              <a:t>Tables Break Chunking; Chunking Breaks Retrieval</a:t>
            </a:r>
            <a:endParaRPr lang="en-US" sz="3100" dirty="0"/>
          </a:p>
        </p:txBody>
      </p:sp>
      <p:sp>
        <p:nvSpPr>
          <p:cNvPr id="4" name="Text 2"/>
          <p:cNvSpPr/>
          <p:nvPr/>
        </p:nvSpPr>
        <p:spPr>
          <a:xfrm>
            <a:off x="594360" y="1481328"/>
            <a:ext cx="5394960" cy="292608"/>
          </a:xfrm>
          <a:prstGeom prst="rect">
            <a:avLst/>
          </a:prstGeom>
          <a:noFill/>
          <a:ln/>
        </p:spPr>
        <p:txBody>
          <a:bodyPr wrap="square" lIns="0" tIns="0" rIns="0" bIns="0" rtlCol="0" anchor="ctr"/>
          <a:lstStyle/>
          <a:p>
            <a:pPr indent="0" marL="0">
              <a:buNone/>
            </a:pPr>
            <a:r>
              <a:rPr lang="en-US" sz="1400" b="1" dirty="0">
                <a:solidFill>
                  <a:srgbClr val="D9683F"/>
                </a:solidFill>
                <a:latin typeface="Calibri" pitchFamily="34" charset="0"/>
                <a:ea typeface="Calibri" pitchFamily="34" charset="-122"/>
                <a:cs typeface="Calibri" pitchFamily="34" charset="-120"/>
              </a:rPr>
              <a:t>Why tables resist chunking</a:t>
            </a:r>
            <a:endParaRPr lang="en-US" sz="1400" dirty="0"/>
          </a:p>
        </p:txBody>
      </p:sp>
      <p:sp>
        <p:nvSpPr>
          <p:cNvPr id="5" name="Text 3"/>
          <p:cNvSpPr/>
          <p:nvPr/>
        </p:nvSpPr>
        <p:spPr>
          <a:xfrm>
            <a:off x="594360" y="1874520"/>
            <a:ext cx="5394960" cy="1874520"/>
          </a:xfrm>
          <a:prstGeom prst="rect">
            <a:avLst/>
          </a:prstGeom>
          <a:noFill/>
          <a:ln/>
        </p:spPr>
        <p:txBody>
          <a:bodyPr wrap="square" lIns="0" tIns="0" rIns="0" bIns="0" rtlCol="0" anchor="t"/>
          <a:lstStyle/>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Split a table and the header is lost — orphaned rows are noise</a:t>
            </a:r>
            <a:endParaRPr lang="en-US" sz="1150" dirty="0"/>
          </a:p>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Tables span pages: repeated headers must be dropped, not ingested</a:t>
            </a:r>
            <a:endParaRPr lang="en-US" sz="1150" dirty="0"/>
          </a:p>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Merged cells govern the rows beneath them, which extract as blanks</a:t>
            </a:r>
            <a:endParaRPr lang="en-US" sz="1150" dirty="0"/>
          </a:p>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Oversized grids must split by rows, header repeated on every part</a:t>
            </a:r>
            <a:endParaRPr lang="en-US" sz="1150" dirty="0"/>
          </a:p>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A table's lead-in sentence and its footnotes belong with it</a:t>
            </a:r>
            <a:endParaRPr lang="en-US" sz="1150" dirty="0"/>
          </a:p>
        </p:txBody>
      </p:sp>
      <p:sp>
        <p:nvSpPr>
          <p:cNvPr id="6" name="Text 4"/>
          <p:cNvSpPr/>
          <p:nvPr/>
        </p:nvSpPr>
        <p:spPr>
          <a:xfrm>
            <a:off x="6199632" y="1481328"/>
            <a:ext cx="5394960" cy="292608"/>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Embedding considerations</a:t>
            </a:r>
            <a:endParaRPr lang="en-US" sz="1400" dirty="0"/>
          </a:p>
        </p:txBody>
      </p:sp>
      <p:sp>
        <p:nvSpPr>
          <p:cNvPr id="7" name="Text 5"/>
          <p:cNvSpPr/>
          <p:nvPr/>
        </p:nvSpPr>
        <p:spPr>
          <a:xfrm>
            <a:off x="6199632" y="1874520"/>
            <a:ext cx="5394960" cy="1874520"/>
          </a:xfrm>
          <a:prstGeom prst="rect">
            <a:avLst/>
          </a:prstGeom>
          <a:noFill/>
          <a:ln/>
        </p:spPr>
        <p:txBody>
          <a:bodyPr wrap="square" lIns="0" tIns="0" rIns="0" bIns="0" rtlCol="0" anchor="t"/>
          <a:lstStyle/>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Inject the section breadcrumb into the text that gets embedded</a:t>
            </a:r>
            <a:endParaRPr lang="en-US" sz="1150" dirty="0"/>
          </a:p>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Expand rows to Column: value so values stay bound to their labels</a:t>
            </a:r>
            <a:endParaRPr lang="en-US" sz="1150" dirty="0"/>
          </a:p>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Vocabulary gap: users say specialist, the plan says Cost Share</a:t>
            </a:r>
            <a:endParaRPr lang="en-US" sz="1150" dirty="0"/>
          </a:p>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Exact terms like CPT codes need lexical search — hybrid retrieval</a:t>
            </a:r>
            <a:endParaRPr lang="en-US" sz="1150" dirty="0"/>
          </a:p>
          <a:p>
            <a:pPr marL="177800" indent="-177800">
              <a:lnSpc>
                <a:spcPct val="100000"/>
              </a:lnSpc>
              <a:spcAft>
                <a:spcPts val="700"/>
              </a:spcAft>
              <a:buSzPct val="100000"/>
              <a:buChar char="•"/>
            </a:pPr>
            <a:r>
              <a:rPr lang="en-US" sz="1150" dirty="0">
                <a:solidFill>
                  <a:srgbClr val="17323A"/>
                </a:solidFill>
                <a:latin typeface="Calibri" pitchFamily="34" charset="0"/>
                <a:ea typeface="Calibri" pitchFamily="34" charset="-122"/>
                <a:cs typeface="Calibri" pitchFamily="34" charset="-120"/>
              </a:rPr>
              <a:t>Deterministic chunk IDs make re-indexing idempotent, not duplicative</a:t>
            </a:r>
            <a:endParaRPr lang="en-US" sz="1150" dirty="0"/>
          </a:p>
        </p:txBody>
      </p:sp>
      <p:sp>
        <p:nvSpPr>
          <p:cNvPr id="8" name="Shape 6"/>
          <p:cNvSpPr/>
          <p:nvPr/>
        </p:nvSpPr>
        <p:spPr>
          <a:xfrm>
            <a:off x="594360" y="3931920"/>
            <a:ext cx="5394960" cy="2011680"/>
          </a:xfrm>
          <a:prstGeom prst="roundRect">
            <a:avLst>
              <a:gd name="adj" fmla="val 3636"/>
            </a:avLst>
          </a:prstGeom>
          <a:solidFill>
            <a:srgbClr val="FBEDE7"/>
          </a:solidFill>
          <a:ln/>
        </p:spPr>
      </p:sp>
      <p:sp>
        <p:nvSpPr>
          <p:cNvPr id="9" name="Text 7"/>
          <p:cNvSpPr/>
          <p:nvPr/>
        </p:nvSpPr>
        <p:spPr>
          <a:xfrm>
            <a:off x="868680" y="4096512"/>
            <a:ext cx="4846320" cy="256032"/>
          </a:xfrm>
          <a:prstGeom prst="rect">
            <a:avLst/>
          </a:prstGeom>
          <a:noFill/>
          <a:ln/>
        </p:spPr>
        <p:txBody>
          <a:bodyPr wrap="square" lIns="0" tIns="0" rIns="0" bIns="0" rtlCol="0" anchor="ctr"/>
          <a:lstStyle/>
          <a:p>
            <a:pPr indent="0" marL="0">
              <a:buNone/>
            </a:pPr>
            <a:r>
              <a:rPr lang="en-US" sz="1000" b="1" spc="120" kern="0" dirty="0">
                <a:solidFill>
                  <a:srgbClr val="D9683F"/>
                </a:solidFill>
                <a:latin typeface="Calibri" pitchFamily="34" charset="0"/>
                <a:ea typeface="Calibri" pitchFamily="34" charset="-122"/>
                <a:cs typeface="Calibri" pitchFamily="34" charset="-120"/>
              </a:rPr>
              <a:t>NAIVE CHUNK</a:t>
            </a:r>
            <a:endParaRPr lang="en-US" sz="1000" dirty="0"/>
          </a:p>
        </p:txBody>
      </p:sp>
      <p:sp>
        <p:nvSpPr>
          <p:cNvPr id="10" name="Text 8"/>
          <p:cNvSpPr/>
          <p:nvPr/>
        </p:nvSpPr>
        <p:spPr>
          <a:xfrm>
            <a:off x="868680" y="4443984"/>
            <a:ext cx="4846320" cy="329184"/>
          </a:xfrm>
          <a:prstGeom prst="rect">
            <a:avLst/>
          </a:prstGeom>
          <a:noFill/>
          <a:ln/>
        </p:spPr>
        <p:txBody>
          <a:bodyPr wrap="square" lIns="0" tIns="0" rIns="0" bIns="0" rtlCol="0" anchor="ctr"/>
          <a:lstStyle/>
          <a:p>
            <a:pPr indent="0" marL="0">
              <a:buNone/>
            </a:pPr>
            <a:r>
              <a:rPr lang="en-US" sz="1100" dirty="0">
                <a:solidFill>
                  <a:srgbClr val="17323A"/>
                </a:solidFill>
                <a:latin typeface="Courier New" pitchFamily="34" charset="0"/>
                <a:ea typeface="Courier New" pitchFamily="34" charset="-122"/>
                <a:cs typeface="Courier New" pitchFamily="34" charset="-120"/>
              </a:rPr>
              <a:t>| Office Visits | $25 | 40% |</a:t>
            </a:r>
            <a:endParaRPr lang="en-US" sz="1100" dirty="0"/>
          </a:p>
        </p:txBody>
      </p:sp>
      <p:sp>
        <p:nvSpPr>
          <p:cNvPr id="11" name="Text 9"/>
          <p:cNvSpPr/>
          <p:nvPr/>
        </p:nvSpPr>
        <p:spPr>
          <a:xfrm>
            <a:off x="868680" y="4892040"/>
            <a:ext cx="4846320" cy="1097280"/>
          </a:xfrm>
          <a:prstGeom prst="rect">
            <a:avLst/>
          </a:prstGeom>
          <a:noFill/>
          <a:ln/>
        </p:spPr>
        <p:txBody>
          <a:bodyPr wrap="square" lIns="0" tIns="0" rIns="0" bIns="0" rtlCol="0" anchor="t"/>
          <a:lstStyle/>
          <a:p>
            <a:pPr indent="0" marL="0">
              <a:lnSpc>
                <a:spcPct val="110000"/>
              </a:lnSpc>
              <a:buNone/>
            </a:pPr>
            <a:r>
              <a:rPr lang="en-US" sz="1100" dirty="0">
                <a:solidFill>
                  <a:srgbClr val="6B4034"/>
                </a:solidFill>
                <a:latin typeface="Calibri" pitchFamily="34" charset="0"/>
                <a:ea typeface="Calibri" pitchFamily="34" charset="-122"/>
                <a:cs typeface="Calibri" pitchFamily="34" charset="-120"/>
              </a:rPr>
              <a:t>Which benefit? Which network tier? Which section? This chunk will happily match a question about emergency room costs.</a:t>
            </a:r>
            <a:endParaRPr lang="en-US" sz="1100" dirty="0"/>
          </a:p>
        </p:txBody>
      </p:sp>
      <p:sp>
        <p:nvSpPr>
          <p:cNvPr id="12" name="Shape 10"/>
          <p:cNvSpPr/>
          <p:nvPr/>
        </p:nvSpPr>
        <p:spPr>
          <a:xfrm>
            <a:off x="6199632" y="3931920"/>
            <a:ext cx="5394960" cy="2011680"/>
          </a:xfrm>
          <a:prstGeom prst="roundRect">
            <a:avLst>
              <a:gd name="adj" fmla="val 3636"/>
            </a:avLst>
          </a:prstGeom>
          <a:solidFill>
            <a:srgbClr val="E6F2F3"/>
          </a:solidFill>
          <a:ln/>
        </p:spPr>
      </p:sp>
      <p:sp>
        <p:nvSpPr>
          <p:cNvPr id="13" name="Text 11"/>
          <p:cNvSpPr/>
          <p:nvPr/>
        </p:nvSpPr>
        <p:spPr>
          <a:xfrm>
            <a:off x="6473952" y="4096512"/>
            <a:ext cx="4846320" cy="256032"/>
          </a:xfrm>
          <a:prstGeom prst="rect">
            <a:avLst/>
          </a:prstGeom>
          <a:noFill/>
          <a:ln/>
        </p:spPr>
        <p:txBody>
          <a:bodyPr wrap="square" lIns="0" tIns="0" rIns="0" bIns="0" rtlCol="0" anchor="ctr"/>
          <a:lstStyle/>
          <a:p>
            <a:pPr indent="0" marL="0">
              <a:buNone/>
            </a:pPr>
            <a:r>
              <a:rPr lang="en-US" sz="1000" b="1" spc="120" kern="0" dirty="0">
                <a:solidFill>
                  <a:srgbClr val="028090"/>
                </a:solidFill>
                <a:latin typeface="Calibri" pitchFamily="34" charset="0"/>
                <a:ea typeface="Calibri" pitchFamily="34" charset="-122"/>
                <a:cs typeface="Calibri" pitchFamily="34" charset="-120"/>
              </a:rPr>
              <a:t>CONTEXT PRESERVED</a:t>
            </a:r>
            <a:endParaRPr lang="en-US" sz="1000" dirty="0"/>
          </a:p>
        </p:txBody>
      </p:sp>
      <p:sp>
        <p:nvSpPr>
          <p:cNvPr id="14" name="Text 12"/>
          <p:cNvSpPr/>
          <p:nvPr/>
        </p:nvSpPr>
        <p:spPr>
          <a:xfrm>
            <a:off x="6473952" y="4425696"/>
            <a:ext cx="4846320" cy="1051560"/>
          </a:xfrm>
          <a:prstGeom prst="rect">
            <a:avLst/>
          </a:prstGeom>
          <a:noFill/>
          <a:ln/>
        </p:spPr>
        <p:txBody>
          <a:bodyPr wrap="square" lIns="0" tIns="0" rIns="0" bIns="0" rtlCol="0" anchor="t"/>
          <a:lstStyle/>
          <a:p>
            <a:pPr indent="0" marL="0">
              <a:lnSpc>
                <a:spcPct val="115000"/>
              </a:lnSpc>
              <a:buNone/>
            </a:pPr>
            <a:r>
              <a:rPr lang="en-US" sz="950" dirty="0">
                <a:solidFill>
                  <a:srgbClr val="17323A"/>
                </a:solidFill>
                <a:latin typeface="Courier New" pitchFamily="34" charset="0"/>
                <a:ea typeface="Courier New" pitchFamily="34" charset="-122"/>
                <a:cs typeface="Courier New" pitchFamily="34" charset="-120"/>
              </a:rPr>
              <a:t>Section: Covered Services &gt; Outpatient &gt;</a:t>
            </a:r>
            <a:endParaRPr lang="en-US" sz="950" dirty="0"/>
          </a:p>
          <a:p>
            <a:pPr indent="0" marL="0">
              <a:lnSpc>
                <a:spcPct val="115000"/>
              </a:lnSpc>
              <a:buNone/>
            </a:pPr>
            <a:r>
              <a:rPr lang="en-US" sz="950" dirty="0">
                <a:solidFill>
                  <a:srgbClr val="17323A"/>
                </a:solidFill>
                <a:latin typeface="Courier New" pitchFamily="34" charset="0"/>
                <a:ea typeface="Courier New" pitchFamily="34" charset="-122"/>
                <a:cs typeface="Courier New" pitchFamily="34" charset="-120"/>
              </a:rPr>
              <a:t>Specialist Visits</a:t>
            </a:r>
            <a:endParaRPr lang="en-US" sz="950" dirty="0"/>
          </a:p>
          <a:p>
            <a:pPr indent="0" marL="0">
              <a:lnSpc>
                <a:spcPct val="115000"/>
              </a:lnSpc>
              <a:buNone/>
            </a:pPr>
            <a:r>
              <a:rPr lang="en-US" sz="950" dirty="0">
                <a:solidFill>
                  <a:srgbClr val="17323A"/>
                </a:solidFill>
                <a:latin typeface="Courier New" pitchFamily="34" charset="0"/>
                <a:ea typeface="Courier New" pitchFamily="34" charset="-122"/>
                <a:cs typeface="Courier New" pitchFamily="34" charset="-120"/>
              </a:rPr>
              <a:t>| Specialist Visit | $25 copay | 40% |</a:t>
            </a:r>
            <a:endParaRPr lang="en-US" sz="950" dirty="0"/>
          </a:p>
          <a:p>
            <a:pPr indent="0" marL="0">
              <a:lnSpc>
                <a:spcPct val="115000"/>
              </a:lnSpc>
              <a:buNone/>
            </a:pPr>
            <a:r>
              <a:rPr lang="en-US" sz="950" dirty="0">
                <a:solidFill>
                  <a:srgbClr val="17323A"/>
                </a:solidFill>
                <a:latin typeface="Courier New" pitchFamily="34" charset="0"/>
                <a:ea typeface="Courier New" pitchFamily="34" charset="-122"/>
                <a:cs typeface="Courier New" pitchFamily="34" charset="-120"/>
              </a:rPr>
              <a:t>Row: In-Network cost share = $25 copay</a:t>
            </a:r>
            <a:endParaRPr lang="en-US" sz="950" dirty="0"/>
          </a:p>
        </p:txBody>
      </p:sp>
      <p:sp>
        <p:nvSpPr>
          <p:cNvPr id="15" name="Text 13"/>
          <p:cNvSpPr/>
          <p:nvPr/>
        </p:nvSpPr>
        <p:spPr>
          <a:xfrm>
            <a:off x="6473952" y="5230368"/>
            <a:ext cx="4846320" cy="594360"/>
          </a:xfrm>
          <a:prstGeom prst="rect">
            <a:avLst/>
          </a:prstGeom>
          <a:noFill/>
          <a:ln/>
        </p:spPr>
        <p:txBody>
          <a:bodyPr wrap="square" lIns="0" tIns="0" rIns="0" bIns="0" rtlCol="0" anchor="t"/>
          <a:lstStyle/>
          <a:p>
            <a:pPr indent="0" marL="0">
              <a:lnSpc>
                <a:spcPct val="110000"/>
              </a:lnSpc>
              <a:buNone/>
            </a:pPr>
            <a:r>
              <a:rPr lang="en-US" sz="1100" dirty="0">
                <a:solidFill>
                  <a:srgbClr val="1F5A5E"/>
                </a:solidFill>
                <a:latin typeface="Calibri" pitchFamily="34" charset="0"/>
                <a:ea typeface="Calibri" pitchFamily="34" charset="-122"/>
                <a:cs typeface="Calibri" pitchFamily="34" charset="-120"/>
              </a:rPr>
              <a:t>Self-describing. Matches the question a member actually asks, and cites where it came from.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56032"/>
            <a:ext cx="1088136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THE CHOSEN SOLUTION</a:t>
            </a:r>
            <a:endParaRPr lang="en-US" sz="1100" dirty="0"/>
          </a:p>
        </p:txBody>
      </p:sp>
      <p:sp>
        <p:nvSpPr>
          <p:cNvPr id="3" name="Text 1"/>
          <p:cNvSpPr/>
          <p:nvPr/>
        </p:nvSpPr>
        <p:spPr>
          <a:xfrm>
            <a:off x="594360" y="548640"/>
            <a:ext cx="10881360" cy="868680"/>
          </a:xfrm>
          <a:prstGeom prst="rect">
            <a:avLst/>
          </a:prstGeom>
          <a:noFill/>
          <a:ln/>
        </p:spPr>
        <p:txBody>
          <a:bodyPr wrap="square" lIns="0" tIns="0" rIns="0" bIns="0" rtlCol="0" anchor="ctr"/>
          <a:lstStyle/>
          <a:p>
            <a:pPr algn="l" indent="0" marL="0">
              <a:buNone/>
            </a:pPr>
            <a:r>
              <a:rPr lang="en-US" sz="3100" b="1" dirty="0">
                <a:solidFill>
                  <a:srgbClr val="17323A"/>
                </a:solidFill>
                <a:latin typeface="Cambria" pitchFamily="34" charset="0"/>
                <a:ea typeface="Cambria" pitchFamily="34" charset="-122"/>
                <a:cs typeface="Cambria" pitchFamily="34" charset="-120"/>
              </a:rPr>
              <a:t>Deterministic Extraction, Context-Preserving Retrieval</a:t>
            </a:r>
            <a:endParaRPr lang="en-US" sz="3100" dirty="0"/>
          </a:p>
        </p:txBody>
      </p:sp>
      <p:sp>
        <p:nvSpPr>
          <p:cNvPr id="4" name="Shape 2"/>
          <p:cNvSpPr/>
          <p:nvPr/>
        </p:nvSpPr>
        <p:spPr>
          <a:xfrm>
            <a:off x="594360" y="1554480"/>
            <a:ext cx="4663440" cy="4617720"/>
          </a:xfrm>
          <a:prstGeom prst="roundRect">
            <a:avLst>
              <a:gd name="adj" fmla="val 1584"/>
            </a:avLst>
          </a:prstGeom>
          <a:solidFill>
            <a:srgbClr val="F2F7F8"/>
          </a:solidFill>
          <a:ln/>
        </p:spPr>
      </p:sp>
      <p:sp>
        <p:nvSpPr>
          <p:cNvPr id="5" name="Text 3"/>
          <p:cNvSpPr/>
          <p:nvPr/>
        </p:nvSpPr>
        <p:spPr>
          <a:xfrm>
            <a:off x="868680" y="1737360"/>
            <a:ext cx="4114800" cy="292608"/>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Tech stack</a:t>
            </a:r>
            <a:endParaRPr lang="en-US" sz="1400" dirty="0"/>
          </a:p>
        </p:txBody>
      </p:sp>
      <p:sp>
        <p:nvSpPr>
          <p:cNvPr id="6" name="Text 4"/>
          <p:cNvSpPr/>
          <p:nvPr/>
        </p:nvSpPr>
        <p:spPr>
          <a:xfrm>
            <a:off x="868680" y="2176272"/>
            <a:ext cx="4114800" cy="201168"/>
          </a:xfrm>
          <a:prstGeom prst="rect">
            <a:avLst/>
          </a:prstGeom>
          <a:noFill/>
          <a:ln/>
        </p:spPr>
        <p:txBody>
          <a:bodyPr wrap="square" lIns="0" tIns="0" rIns="0" bIns="0" rtlCol="0" anchor="ctr"/>
          <a:lstStyle/>
          <a:p>
            <a:pPr indent="0" marL="0">
              <a:buNone/>
            </a:pPr>
            <a:r>
              <a:rPr lang="en-US" sz="850" b="1" spc="80" kern="0" dirty="0">
                <a:solidFill>
                  <a:srgbClr val="5E7A82"/>
                </a:solidFill>
                <a:latin typeface="Calibri" pitchFamily="34" charset="0"/>
                <a:ea typeface="Calibri" pitchFamily="34" charset="-122"/>
                <a:cs typeface="Calibri" pitchFamily="34" charset="-120"/>
              </a:rPr>
              <a:t>UI</a:t>
            </a:r>
            <a:endParaRPr lang="en-US" sz="850" dirty="0"/>
          </a:p>
        </p:txBody>
      </p:sp>
      <p:sp>
        <p:nvSpPr>
          <p:cNvPr id="7" name="Text 5"/>
          <p:cNvSpPr/>
          <p:nvPr/>
        </p:nvSpPr>
        <p:spPr>
          <a:xfrm>
            <a:off x="868680" y="2359152"/>
            <a:ext cx="4114800" cy="274320"/>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Streamlit — one page per phase</a:t>
            </a:r>
            <a:endParaRPr lang="en-US" sz="1200" dirty="0"/>
          </a:p>
        </p:txBody>
      </p:sp>
      <p:sp>
        <p:nvSpPr>
          <p:cNvPr id="8" name="Text 6"/>
          <p:cNvSpPr/>
          <p:nvPr/>
        </p:nvSpPr>
        <p:spPr>
          <a:xfrm>
            <a:off x="868680" y="2734056"/>
            <a:ext cx="4114800" cy="201168"/>
          </a:xfrm>
          <a:prstGeom prst="rect">
            <a:avLst/>
          </a:prstGeom>
          <a:noFill/>
          <a:ln/>
        </p:spPr>
        <p:txBody>
          <a:bodyPr wrap="square" lIns="0" tIns="0" rIns="0" bIns="0" rtlCol="0" anchor="ctr"/>
          <a:lstStyle/>
          <a:p>
            <a:pPr indent="0" marL="0">
              <a:buNone/>
            </a:pPr>
            <a:r>
              <a:rPr lang="en-US" sz="850" b="1" spc="80" kern="0" dirty="0">
                <a:solidFill>
                  <a:srgbClr val="5E7A82"/>
                </a:solidFill>
                <a:latin typeface="Calibri" pitchFamily="34" charset="0"/>
                <a:ea typeface="Calibri" pitchFamily="34" charset="-122"/>
                <a:cs typeface="Calibri" pitchFamily="34" charset="-120"/>
              </a:rPr>
              <a:t>PDF PARSING</a:t>
            </a:r>
            <a:endParaRPr lang="en-US" sz="850" dirty="0"/>
          </a:p>
        </p:txBody>
      </p:sp>
      <p:sp>
        <p:nvSpPr>
          <p:cNvPr id="9" name="Text 7"/>
          <p:cNvSpPr/>
          <p:nvPr/>
        </p:nvSpPr>
        <p:spPr>
          <a:xfrm>
            <a:off x="868680" y="2916936"/>
            <a:ext cx="4114800" cy="274320"/>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pdfplumber (pure Python wheel)</a:t>
            </a:r>
            <a:endParaRPr lang="en-US" sz="1200" dirty="0"/>
          </a:p>
        </p:txBody>
      </p:sp>
      <p:sp>
        <p:nvSpPr>
          <p:cNvPr id="10" name="Text 8"/>
          <p:cNvSpPr/>
          <p:nvPr/>
        </p:nvSpPr>
        <p:spPr>
          <a:xfrm>
            <a:off x="868680" y="3291840"/>
            <a:ext cx="4114800" cy="201168"/>
          </a:xfrm>
          <a:prstGeom prst="rect">
            <a:avLst/>
          </a:prstGeom>
          <a:noFill/>
          <a:ln/>
        </p:spPr>
        <p:txBody>
          <a:bodyPr wrap="square" lIns="0" tIns="0" rIns="0" bIns="0" rtlCol="0" anchor="ctr"/>
          <a:lstStyle/>
          <a:p>
            <a:pPr indent="0" marL="0">
              <a:buNone/>
            </a:pPr>
            <a:r>
              <a:rPr lang="en-US" sz="850" b="1" spc="80" kern="0" dirty="0">
                <a:solidFill>
                  <a:srgbClr val="5E7A82"/>
                </a:solidFill>
                <a:latin typeface="Calibri" pitchFamily="34" charset="0"/>
                <a:ea typeface="Calibri" pitchFamily="34" charset="-122"/>
                <a:cs typeface="Calibri" pitchFamily="34" charset="-120"/>
              </a:rPr>
              <a:t>TABLE RECOVERY</a:t>
            </a:r>
            <a:endParaRPr lang="en-US" sz="850" dirty="0"/>
          </a:p>
        </p:txBody>
      </p:sp>
      <p:sp>
        <p:nvSpPr>
          <p:cNvPr id="11" name="Text 9"/>
          <p:cNvSpPr/>
          <p:nvPr/>
        </p:nvSpPr>
        <p:spPr>
          <a:xfrm>
            <a:off x="868680" y="3474720"/>
            <a:ext cx="4114800" cy="274320"/>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Custom grid reconstruction</a:t>
            </a:r>
            <a:endParaRPr lang="en-US" sz="1200" dirty="0"/>
          </a:p>
        </p:txBody>
      </p:sp>
      <p:sp>
        <p:nvSpPr>
          <p:cNvPr id="12" name="Text 10"/>
          <p:cNvSpPr/>
          <p:nvPr/>
        </p:nvSpPr>
        <p:spPr>
          <a:xfrm>
            <a:off x="868680" y="3849624"/>
            <a:ext cx="4114800" cy="201168"/>
          </a:xfrm>
          <a:prstGeom prst="rect">
            <a:avLst/>
          </a:prstGeom>
          <a:noFill/>
          <a:ln/>
        </p:spPr>
        <p:txBody>
          <a:bodyPr wrap="square" lIns="0" tIns="0" rIns="0" bIns="0" rtlCol="0" anchor="ctr"/>
          <a:lstStyle/>
          <a:p>
            <a:pPr indent="0" marL="0">
              <a:buNone/>
            </a:pPr>
            <a:r>
              <a:rPr lang="en-US" sz="850" b="1" spc="80" kern="0" dirty="0">
                <a:solidFill>
                  <a:srgbClr val="5E7A82"/>
                </a:solidFill>
                <a:latin typeface="Calibri" pitchFamily="34" charset="0"/>
                <a:ea typeface="Calibri" pitchFamily="34" charset="-122"/>
                <a:cs typeface="Calibri" pitchFamily="34" charset="-120"/>
              </a:rPr>
              <a:t>CHUNKING</a:t>
            </a:r>
            <a:endParaRPr lang="en-US" sz="850" dirty="0"/>
          </a:p>
        </p:txBody>
      </p:sp>
      <p:sp>
        <p:nvSpPr>
          <p:cNvPr id="13" name="Text 11"/>
          <p:cNvSpPr/>
          <p:nvPr/>
        </p:nvSpPr>
        <p:spPr>
          <a:xfrm>
            <a:off x="868680" y="4032504"/>
            <a:ext cx="4114800" cy="274320"/>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Section-aware, table-atomic</a:t>
            </a:r>
            <a:endParaRPr lang="en-US" sz="1200" dirty="0"/>
          </a:p>
        </p:txBody>
      </p:sp>
      <p:sp>
        <p:nvSpPr>
          <p:cNvPr id="14" name="Text 12"/>
          <p:cNvSpPr/>
          <p:nvPr/>
        </p:nvSpPr>
        <p:spPr>
          <a:xfrm>
            <a:off x="868680" y="4407408"/>
            <a:ext cx="4114800" cy="201168"/>
          </a:xfrm>
          <a:prstGeom prst="rect">
            <a:avLst/>
          </a:prstGeom>
          <a:noFill/>
          <a:ln/>
        </p:spPr>
        <p:txBody>
          <a:bodyPr wrap="square" lIns="0" tIns="0" rIns="0" bIns="0" rtlCol="0" anchor="ctr"/>
          <a:lstStyle/>
          <a:p>
            <a:pPr indent="0" marL="0">
              <a:buNone/>
            </a:pPr>
            <a:r>
              <a:rPr lang="en-US" sz="850" b="1" spc="80" kern="0" dirty="0">
                <a:solidFill>
                  <a:srgbClr val="5E7A82"/>
                </a:solidFill>
                <a:latin typeface="Calibri" pitchFamily="34" charset="0"/>
                <a:ea typeface="Calibri" pitchFamily="34" charset="-122"/>
                <a:cs typeface="Calibri" pitchFamily="34" charset="-120"/>
              </a:rPr>
              <a:t>EMBEDDINGS</a:t>
            </a:r>
            <a:endParaRPr lang="en-US" sz="850" dirty="0"/>
          </a:p>
        </p:txBody>
      </p:sp>
      <p:sp>
        <p:nvSpPr>
          <p:cNvPr id="15" name="Text 13"/>
          <p:cNvSpPr/>
          <p:nvPr/>
        </p:nvSpPr>
        <p:spPr>
          <a:xfrm>
            <a:off x="868680" y="4590288"/>
            <a:ext cx="4114800" cy="274320"/>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Voyage voyage-3.5 (API)</a:t>
            </a:r>
            <a:endParaRPr lang="en-US" sz="1200" dirty="0"/>
          </a:p>
        </p:txBody>
      </p:sp>
      <p:sp>
        <p:nvSpPr>
          <p:cNvPr id="16" name="Text 14"/>
          <p:cNvSpPr/>
          <p:nvPr/>
        </p:nvSpPr>
        <p:spPr>
          <a:xfrm>
            <a:off x="868680" y="4965192"/>
            <a:ext cx="4114800" cy="201168"/>
          </a:xfrm>
          <a:prstGeom prst="rect">
            <a:avLst/>
          </a:prstGeom>
          <a:noFill/>
          <a:ln/>
        </p:spPr>
        <p:txBody>
          <a:bodyPr wrap="square" lIns="0" tIns="0" rIns="0" bIns="0" rtlCol="0" anchor="ctr"/>
          <a:lstStyle/>
          <a:p>
            <a:pPr indent="0" marL="0">
              <a:buNone/>
            </a:pPr>
            <a:r>
              <a:rPr lang="en-US" sz="850" b="1" spc="80" kern="0" dirty="0">
                <a:solidFill>
                  <a:srgbClr val="5E7A82"/>
                </a:solidFill>
                <a:latin typeface="Calibri" pitchFamily="34" charset="0"/>
                <a:ea typeface="Calibri" pitchFamily="34" charset="-122"/>
                <a:cs typeface="Calibri" pitchFamily="34" charset="-120"/>
              </a:rPr>
              <a:t>STORAGE</a:t>
            </a:r>
            <a:endParaRPr lang="en-US" sz="850" dirty="0"/>
          </a:p>
        </p:txBody>
      </p:sp>
      <p:sp>
        <p:nvSpPr>
          <p:cNvPr id="17" name="Text 15"/>
          <p:cNvSpPr/>
          <p:nvPr/>
        </p:nvSpPr>
        <p:spPr>
          <a:xfrm>
            <a:off x="868680" y="5148072"/>
            <a:ext cx="4114800" cy="274320"/>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MongoDB Atlas Vector Search</a:t>
            </a:r>
            <a:endParaRPr lang="en-US" sz="1200" dirty="0"/>
          </a:p>
        </p:txBody>
      </p:sp>
      <p:sp>
        <p:nvSpPr>
          <p:cNvPr id="18" name="Text 16"/>
          <p:cNvSpPr/>
          <p:nvPr/>
        </p:nvSpPr>
        <p:spPr>
          <a:xfrm>
            <a:off x="868680" y="5522976"/>
            <a:ext cx="4114800" cy="201168"/>
          </a:xfrm>
          <a:prstGeom prst="rect">
            <a:avLst/>
          </a:prstGeom>
          <a:noFill/>
          <a:ln/>
        </p:spPr>
        <p:txBody>
          <a:bodyPr wrap="square" lIns="0" tIns="0" rIns="0" bIns="0" rtlCol="0" anchor="ctr"/>
          <a:lstStyle/>
          <a:p>
            <a:pPr indent="0" marL="0">
              <a:buNone/>
            </a:pPr>
            <a:r>
              <a:rPr lang="en-US" sz="850" b="1" spc="80" kern="0" dirty="0">
                <a:solidFill>
                  <a:srgbClr val="5E7A82"/>
                </a:solidFill>
                <a:latin typeface="Calibri" pitchFamily="34" charset="0"/>
                <a:ea typeface="Calibri" pitchFamily="34" charset="-122"/>
                <a:cs typeface="Calibri" pitchFamily="34" charset="-120"/>
              </a:rPr>
              <a:t>ANSWERING</a:t>
            </a:r>
            <a:endParaRPr lang="en-US" sz="850" dirty="0"/>
          </a:p>
        </p:txBody>
      </p:sp>
      <p:sp>
        <p:nvSpPr>
          <p:cNvPr id="19" name="Text 17"/>
          <p:cNvSpPr/>
          <p:nvPr/>
        </p:nvSpPr>
        <p:spPr>
          <a:xfrm>
            <a:off x="868680" y="5705856"/>
            <a:ext cx="4114800" cy="274320"/>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Claude / GPT, strictly grounded</a:t>
            </a:r>
            <a:endParaRPr lang="en-US" sz="1200" dirty="0"/>
          </a:p>
        </p:txBody>
      </p:sp>
      <p:sp>
        <p:nvSpPr>
          <p:cNvPr id="20" name="Text 18"/>
          <p:cNvSpPr/>
          <p:nvPr/>
        </p:nvSpPr>
        <p:spPr>
          <a:xfrm>
            <a:off x="5623560" y="1737360"/>
            <a:ext cx="5943600" cy="292608"/>
          </a:xfrm>
          <a:prstGeom prst="rect">
            <a:avLst/>
          </a:prstGeom>
          <a:noFill/>
          <a:ln/>
        </p:spPr>
        <p:txBody>
          <a:bodyPr wrap="square" lIns="0" tIns="0" rIns="0" bIns="0" rtlCol="0" anchor="ctr"/>
          <a:lstStyle/>
          <a:p>
            <a:pPr indent="0" marL="0">
              <a:buNone/>
            </a:pPr>
            <a:r>
              <a:rPr lang="en-US" sz="1400" b="1" dirty="0">
                <a:solidFill>
                  <a:srgbClr val="D9683F"/>
                </a:solidFill>
                <a:latin typeface="Calibri" pitchFamily="34" charset="0"/>
                <a:ea typeface="Calibri" pitchFamily="34" charset="-122"/>
                <a:cs typeface="Calibri" pitchFamily="34" charset="-120"/>
              </a:rPr>
              <a:t>How it answers the challenges</a:t>
            </a:r>
            <a:endParaRPr lang="en-US" sz="1400" dirty="0"/>
          </a:p>
        </p:txBody>
      </p:sp>
      <p:sp>
        <p:nvSpPr>
          <p:cNvPr id="21" name="Shape 19"/>
          <p:cNvSpPr/>
          <p:nvPr/>
        </p:nvSpPr>
        <p:spPr>
          <a:xfrm>
            <a:off x="5623560" y="2276856"/>
            <a:ext cx="128016" cy="128016"/>
          </a:xfrm>
          <a:prstGeom prst="ellipse">
            <a:avLst/>
          </a:prstGeom>
          <a:solidFill>
            <a:srgbClr val="028090"/>
          </a:solidFill>
          <a:ln/>
        </p:spPr>
      </p:sp>
      <p:sp>
        <p:nvSpPr>
          <p:cNvPr id="22" name="Text 20"/>
          <p:cNvSpPr/>
          <p:nvPr/>
        </p:nvSpPr>
        <p:spPr>
          <a:xfrm>
            <a:off x="5897880" y="2194560"/>
            <a:ext cx="5669280" cy="256032"/>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No runtime downloads</a:t>
            </a:r>
            <a:endParaRPr lang="en-US" sz="1200" dirty="0"/>
          </a:p>
        </p:txBody>
      </p:sp>
      <p:sp>
        <p:nvSpPr>
          <p:cNvPr id="23" name="Text 21"/>
          <p:cNvSpPr/>
          <p:nvPr/>
        </p:nvSpPr>
        <p:spPr>
          <a:xfrm>
            <a:off x="5897880" y="2441448"/>
            <a:ext cx="5669280" cy="384048"/>
          </a:xfrm>
          <a:prstGeom prst="rect">
            <a:avLst/>
          </a:prstGeom>
          <a:noFill/>
          <a:ln/>
        </p:spPr>
        <p:txBody>
          <a:bodyPr wrap="square" lIns="0" tIns="0" rIns="0" bIns="0" rtlCol="0" anchor="t"/>
          <a:lstStyle/>
          <a:p>
            <a:pPr indent="0" marL="0">
              <a:lnSpc>
                <a:spcPct val="100000"/>
              </a:lnSpc>
              <a:buNone/>
            </a:pPr>
            <a:r>
              <a:rPr lang="en-US" sz="1050" dirty="0">
                <a:solidFill>
                  <a:srgbClr val="5E7A82"/>
                </a:solidFill>
                <a:latin typeface="Calibri" pitchFamily="34" charset="0"/>
                <a:ea typeface="Calibri" pitchFamily="34" charset="-122"/>
                <a:cs typeface="Calibri" pitchFamily="34" charset="-120"/>
              </a:rPr>
              <a:t>pdfplumber + API embeddings — rules out Docling, Marker, unstructured</a:t>
            </a:r>
            <a:endParaRPr lang="en-US" sz="1050" dirty="0"/>
          </a:p>
        </p:txBody>
      </p:sp>
      <p:sp>
        <p:nvSpPr>
          <p:cNvPr id="24" name="Shape 22"/>
          <p:cNvSpPr/>
          <p:nvPr/>
        </p:nvSpPr>
        <p:spPr>
          <a:xfrm>
            <a:off x="5623560" y="2935224"/>
            <a:ext cx="128016" cy="128016"/>
          </a:xfrm>
          <a:prstGeom prst="ellipse">
            <a:avLst/>
          </a:prstGeom>
          <a:solidFill>
            <a:srgbClr val="028090"/>
          </a:solidFill>
          <a:ln/>
        </p:spPr>
      </p:sp>
      <p:sp>
        <p:nvSpPr>
          <p:cNvPr id="25" name="Text 23"/>
          <p:cNvSpPr/>
          <p:nvPr/>
        </p:nvSpPr>
        <p:spPr>
          <a:xfrm>
            <a:off x="5897880" y="2852928"/>
            <a:ext cx="5669280" cy="256032"/>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Merged cells</a:t>
            </a:r>
            <a:endParaRPr lang="en-US" sz="1200" dirty="0"/>
          </a:p>
        </p:txBody>
      </p:sp>
      <p:sp>
        <p:nvSpPr>
          <p:cNvPr id="26" name="Text 24"/>
          <p:cNvSpPr/>
          <p:nvPr/>
        </p:nvSpPr>
        <p:spPr>
          <a:xfrm>
            <a:off x="5897880" y="3099816"/>
            <a:ext cx="5669280" cy="384048"/>
          </a:xfrm>
          <a:prstGeom prst="rect">
            <a:avLst/>
          </a:prstGeom>
          <a:noFill/>
          <a:ln/>
        </p:spPr>
        <p:txBody>
          <a:bodyPr wrap="square" lIns="0" tIns="0" rIns="0" bIns="0" rtlCol="0" anchor="t"/>
          <a:lstStyle/>
          <a:p>
            <a:pPr indent="0" marL="0">
              <a:lnSpc>
                <a:spcPct val="100000"/>
              </a:lnSpc>
              <a:buNone/>
            </a:pPr>
            <a:r>
              <a:rPr lang="en-US" sz="1050" dirty="0">
                <a:solidFill>
                  <a:srgbClr val="5E7A82"/>
                </a:solidFill>
                <a:latin typeface="Calibri" pitchFamily="34" charset="0"/>
                <a:ea typeface="Calibri" pitchFamily="34" charset="-122"/>
                <a:cs typeface="Calibri" pitchFamily="34" charset="-120"/>
              </a:rPr>
              <a:t>Cell edges clustered into a global grid; each cell mapped to its true span</a:t>
            </a:r>
            <a:endParaRPr lang="en-US" sz="1050" dirty="0"/>
          </a:p>
        </p:txBody>
      </p:sp>
      <p:sp>
        <p:nvSpPr>
          <p:cNvPr id="27" name="Shape 25"/>
          <p:cNvSpPr/>
          <p:nvPr/>
        </p:nvSpPr>
        <p:spPr>
          <a:xfrm>
            <a:off x="5623560" y="3593592"/>
            <a:ext cx="128016" cy="128016"/>
          </a:xfrm>
          <a:prstGeom prst="ellipse">
            <a:avLst/>
          </a:prstGeom>
          <a:solidFill>
            <a:srgbClr val="028090"/>
          </a:solidFill>
          <a:ln/>
        </p:spPr>
      </p:sp>
      <p:sp>
        <p:nvSpPr>
          <p:cNvPr id="28" name="Text 26"/>
          <p:cNvSpPr/>
          <p:nvPr/>
        </p:nvSpPr>
        <p:spPr>
          <a:xfrm>
            <a:off x="5897880" y="3511296"/>
            <a:ext cx="5669280" cy="256032"/>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Tables spanning pages</a:t>
            </a:r>
            <a:endParaRPr lang="en-US" sz="1200" dirty="0"/>
          </a:p>
        </p:txBody>
      </p:sp>
      <p:sp>
        <p:nvSpPr>
          <p:cNvPr id="29" name="Text 27"/>
          <p:cNvSpPr/>
          <p:nvPr/>
        </p:nvSpPr>
        <p:spPr>
          <a:xfrm>
            <a:off x="5897880" y="3758184"/>
            <a:ext cx="5669280" cy="384048"/>
          </a:xfrm>
          <a:prstGeom prst="rect">
            <a:avLst/>
          </a:prstGeom>
          <a:noFill/>
          <a:ln/>
        </p:spPr>
        <p:txBody>
          <a:bodyPr wrap="square" lIns="0" tIns="0" rIns="0" bIns="0" rtlCol="0" anchor="t"/>
          <a:lstStyle/>
          <a:p>
            <a:pPr indent="0" marL="0">
              <a:lnSpc>
                <a:spcPct val="100000"/>
              </a:lnSpc>
              <a:buNone/>
            </a:pPr>
            <a:r>
              <a:rPr lang="en-US" sz="1050" dirty="0">
                <a:solidFill>
                  <a:srgbClr val="5E7A82"/>
                </a:solidFill>
                <a:latin typeface="Calibri" pitchFamily="34" charset="0"/>
                <a:ea typeface="Calibri" pitchFamily="34" charset="-122"/>
                <a:cs typeface="Calibri" pitchFamily="34" charset="-120"/>
              </a:rPr>
              <a:t>Column geometry matched across the break; repeated headers dropped</a:t>
            </a:r>
            <a:endParaRPr lang="en-US" sz="1050" dirty="0"/>
          </a:p>
        </p:txBody>
      </p:sp>
      <p:sp>
        <p:nvSpPr>
          <p:cNvPr id="30" name="Shape 28"/>
          <p:cNvSpPr/>
          <p:nvPr/>
        </p:nvSpPr>
        <p:spPr>
          <a:xfrm>
            <a:off x="5623560" y="4251960"/>
            <a:ext cx="128016" cy="128016"/>
          </a:xfrm>
          <a:prstGeom prst="ellipse">
            <a:avLst/>
          </a:prstGeom>
          <a:solidFill>
            <a:srgbClr val="028090"/>
          </a:solidFill>
          <a:ln/>
        </p:spPr>
      </p:sp>
      <p:sp>
        <p:nvSpPr>
          <p:cNvPr id="31" name="Text 29"/>
          <p:cNvSpPr/>
          <p:nvPr/>
        </p:nvSpPr>
        <p:spPr>
          <a:xfrm>
            <a:off x="5897880" y="4169664"/>
            <a:ext cx="5669280" cy="256032"/>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Oversized tables</a:t>
            </a:r>
            <a:endParaRPr lang="en-US" sz="1200" dirty="0"/>
          </a:p>
        </p:txBody>
      </p:sp>
      <p:sp>
        <p:nvSpPr>
          <p:cNvPr id="32" name="Text 30"/>
          <p:cNvSpPr/>
          <p:nvPr/>
        </p:nvSpPr>
        <p:spPr>
          <a:xfrm>
            <a:off x="5897880" y="4416552"/>
            <a:ext cx="5669280" cy="384048"/>
          </a:xfrm>
          <a:prstGeom prst="rect">
            <a:avLst/>
          </a:prstGeom>
          <a:noFill/>
          <a:ln/>
        </p:spPr>
        <p:txBody>
          <a:bodyPr wrap="square" lIns="0" tIns="0" rIns="0" bIns="0" rtlCol="0" anchor="t"/>
          <a:lstStyle/>
          <a:p>
            <a:pPr indent="0" marL="0">
              <a:lnSpc>
                <a:spcPct val="100000"/>
              </a:lnSpc>
              <a:buNone/>
            </a:pPr>
            <a:r>
              <a:rPr lang="en-US" sz="1050" dirty="0">
                <a:solidFill>
                  <a:srgbClr val="5E7A82"/>
                </a:solidFill>
                <a:latin typeface="Calibri" pitchFamily="34" charset="0"/>
                <a:ea typeface="Calibri" pitchFamily="34" charset="-122"/>
                <a:cs typeface="Calibri" pitchFamily="34" charset="-120"/>
              </a:rPr>
              <a:t>Split by rows with the header repeated and a part N of M marker</a:t>
            </a:r>
            <a:endParaRPr lang="en-US" sz="1050" dirty="0"/>
          </a:p>
        </p:txBody>
      </p:sp>
      <p:sp>
        <p:nvSpPr>
          <p:cNvPr id="33" name="Shape 31"/>
          <p:cNvSpPr/>
          <p:nvPr/>
        </p:nvSpPr>
        <p:spPr>
          <a:xfrm>
            <a:off x="5623560" y="4910328"/>
            <a:ext cx="128016" cy="128016"/>
          </a:xfrm>
          <a:prstGeom prst="ellipse">
            <a:avLst/>
          </a:prstGeom>
          <a:solidFill>
            <a:srgbClr val="028090"/>
          </a:solidFill>
          <a:ln/>
        </p:spPr>
      </p:sp>
      <p:sp>
        <p:nvSpPr>
          <p:cNvPr id="34" name="Text 32"/>
          <p:cNvSpPr/>
          <p:nvPr/>
        </p:nvSpPr>
        <p:spPr>
          <a:xfrm>
            <a:off x="5897880" y="4828032"/>
            <a:ext cx="5669280" cy="256032"/>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Section relationships</a:t>
            </a:r>
            <a:endParaRPr lang="en-US" sz="1200" dirty="0"/>
          </a:p>
        </p:txBody>
      </p:sp>
      <p:sp>
        <p:nvSpPr>
          <p:cNvPr id="35" name="Text 33"/>
          <p:cNvSpPr/>
          <p:nvPr/>
        </p:nvSpPr>
        <p:spPr>
          <a:xfrm>
            <a:off x="5897880" y="5074920"/>
            <a:ext cx="5669280" cy="384048"/>
          </a:xfrm>
          <a:prstGeom prst="rect">
            <a:avLst/>
          </a:prstGeom>
          <a:noFill/>
          <a:ln/>
        </p:spPr>
        <p:txBody>
          <a:bodyPr wrap="square" lIns="0" tIns="0" rIns="0" bIns="0" rtlCol="0" anchor="t"/>
          <a:lstStyle/>
          <a:p>
            <a:pPr indent="0" marL="0">
              <a:lnSpc>
                <a:spcPct val="100000"/>
              </a:lnSpc>
              <a:buNone/>
            </a:pPr>
            <a:r>
              <a:rPr lang="en-US" sz="1050" dirty="0">
                <a:solidFill>
                  <a:srgbClr val="5E7A82"/>
                </a:solidFill>
                <a:latin typeface="Calibri" pitchFamily="34" charset="0"/>
                <a:ea typeface="Calibri" pitchFamily="34" charset="-122"/>
                <a:cs typeface="Calibri" pitchFamily="34" charset="-120"/>
              </a:rPr>
              <a:t>section_path stored as metadata and prefixed into the embedded text</a:t>
            </a:r>
            <a:endParaRPr lang="en-US" sz="1050" dirty="0"/>
          </a:p>
        </p:txBody>
      </p:sp>
      <p:sp>
        <p:nvSpPr>
          <p:cNvPr id="36" name="Shape 34"/>
          <p:cNvSpPr/>
          <p:nvPr/>
        </p:nvSpPr>
        <p:spPr>
          <a:xfrm>
            <a:off x="5623560" y="5568696"/>
            <a:ext cx="128016" cy="128016"/>
          </a:xfrm>
          <a:prstGeom prst="ellipse">
            <a:avLst/>
          </a:prstGeom>
          <a:solidFill>
            <a:srgbClr val="028090"/>
          </a:solidFill>
          <a:ln/>
        </p:spPr>
      </p:sp>
      <p:sp>
        <p:nvSpPr>
          <p:cNvPr id="37" name="Text 35"/>
          <p:cNvSpPr/>
          <p:nvPr/>
        </p:nvSpPr>
        <p:spPr>
          <a:xfrm>
            <a:off x="5897880" y="5486400"/>
            <a:ext cx="5669280" cy="256032"/>
          </a:xfrm>
          <a:prstGeom prst="rect">
            <a:avLst/>
          </a:prstGeom>
          <a:noFill/>
          <a:ln/>
        </p:spPr>
        <p:txBody>
          <a:bodyPr wrap="square" lIns="0" tIns="0" rIns="0" bIns="0" rtlCol="0" anchor="ctr"/>
          <a:lstStyle/>
          <a:p>
            <a:pPr indent="0" marL="0">
              <a:buNone/>
            </a:pPr>
            <a:r>
              <a:rPr lang="en-US" sz="1200" b="1" dirty="0">
                <a:solidFill>
                  <a:srgbClr val="17323A"/>
                </a:solidFill>
                <a:latin typeface="Calibri" pitchFamily="34" charset="0"/>
                <a:ea typeface="Calibri" pitchFamily="34" charset="-122"/>
                <a:cs typeface="Calibri" pitchFamily="34" charset="-120"/>
              </a:rPr>
              <a:t>Traceability</a:t>
            </a:r>
            <a:endParaRPr lang="en-US" sz="1200" dirty="0"/>
          </a:p>
        </p:txBody>
      </p:sp>
      <p:sp>
        <p:nvSpPr>
          <p:cNvPr id="38" name="Text 36"/>
          <p:cNvSpPr/>
          <p:nvPr/>
        </p:nvSpPr>
        <p:spPr>
          <a:xfrm>
            <a:off x="5897880" y="5733288"/>
            <a:ext cx="5669280" cy="384048"/>
          </a:xfrm>
          <a:prstGeom prst="rect">
            <a:avLst/>
          </a:prstGeom>
          <a:noFill/>
          <a:ln/>
        </p:spPr>
        <p:txBody>
          <a:bodyPr wrap="square" lIns="0" tIns="0" rIns="0" bIns="0" rtlCol="0" anchor="t"/>
          <a:lstStyle/>
          <a:p>
            <a:pPr indent="0" marL="0">
              <a:lnSpc>
                <a:spcPct val="100000"/>
              </a:lnSpc>
              <a:buNone/>
            </a:pPr>
            <a:r>
              <a:rPr lang="en-US" sz="1050" dirty="0">
                <a:solidFill>
                  <a:srgbClr val="5E7A82"/>
                </a:solidFill>
                <a:latin typeface="Calibri" pitchFamily="34" charset="0"/>
                <a:ea typeface="Calibri" pitchFamily="34" charset="-122"/>
                <a:cs typeface="Calibri" pitchFamily="34" charset="-120"/>
              </a:rPr>
              <a:t>Page anchors carried end to end; every answer cites section and page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3B45"/>
        </a:solidFill>
      </p:bgPr>
    </p:bg>
    <p:spTree>
      <p:nvGrpSpPr>
        <p:cNvPr id="1" name=""/>
        <p:cNvGrpSpPr/>
        <p:nvPr/>
      </p:nvGrpSpPr>
      <p:grpSpPr>
        <a:xfrm>
          <a:off x="0" y="0"/>
          <a:ext cx="0" cy="0"/>
          <a:chOff x="0" y="0"/>
          <a:chExt cx="0" cy="0"/>
        </a:xfrm>
      </p:grpSpPr>
      <p:sp>
        <p:nvSpPr>
          <p:cNvPr id="2" name="Text 0"/>
          <p:cNvSpPr/>
          <p:nvPr/>
        </p:nvSpPr>
        <p:spPr>
          <a:xfrm>
            <a:off x="594360" y="256032"/>
            <a:ext cx="10881360" cy="274320"/>
          </a:xfrm>
          <a:prstGeom prst="rect">
            <a:avLst/>
          </a:prstGeom>
          <a:noFill/>
          <a:ln/>
        </p:spPr>
        <p:txBody>
          <a:bodyPr wrap="square" lIns="0" tIns="0" rIns="0" bIns="0" rtlCol="0" anchor="ctr"/>
          <a:lstStyle/>
          <a:p>
            <a:pPr indent="0" marL="0">
              <a:buNone/>
            </a:pPr>
            <a:r>
              <a:rPr lang="en-US" sz="1100" b="1" spc="200" kern="0" dirty="0">
                <a:solidFill>
                  <a:srgbClr val="9FD3D6"/>
                </a:solidFill>
                <a:latin typeface="Calibri" pitchFamily="34" charset="0"/>
                <a:ea typeface="Calibri" pitchFamily="34" charset="-122"/>
                <a:cs typeface="Calibri" pitchFamily="34" charset="-120"/>
              </a:rPr>
              <a:t>IS AN AGENTIC SOLUTION RIGHT HERE?</a:t>
            </a:r>
            <a:endParaRPr lang="en-US" sz="1100" dirty="0"/>
          </a:p>
        </p:txBody>
      </p:sp>
      <p:sp>
        <p:nvSpPr>
          <p:cNvPr id="3" name="Text 1"/>
          <p:cNvSpPr/>
          <p:nvPr/>
        </p:nvSpPr>
        <p:spPr>
          <a:xfrm>
            <a:off x="594360" y="621792"/>
            <a:ext cx="10881360" cy="1005840"/>
          </a:xfrm>
          <a:prstGeom prst="rect">
            <a:avLst/>
          </a:prstGeom>
          <a:noFill/>
          <a:ln/>
        </p:spPr>
        <p:txBody>
          <a:bodyPr wrap="square" lIns="0" tIns="0" rIns="0" bIns="0" rtlCol="0" anchor="t"/>
          <a:lstStyle/>
          <a:p>
            <a:pPr indent="0" marL="0">
              <a:lnSpc>
                <a:spcPct val="105000"/>
              </a:lnSpc>
              <a:buNone/>
            </a:pPr>
            <a:r>
              <a:rPr lang="en-US" sz="2800" b="1" dirty="0">
                <a:solidFill>
                  <a:srgbClr val="FFFFFF"/>
                </a:solidFill>
                <a:latin typeface="Cambria" pitchFamily="34" charset="0"/>
                <a:ea typeface="Cambria" pitchFamily="34" charset="-122"/>
                <a:cs typeface="Cambria" pitchFamily="34" charset="-120"/>
              </a:rPr>
              <a:t>Agents Where Judgment Is Needed —</a:t>
            </a:r>
            <a:endParaRPr lang="en-US" sz="2800" dirty="0"/>
          </a:p>
          <a:p>
            <a:pPr indent="0" marL="0">
              <a:lnSpc>
                <a:spcPct val="105000"/>
              </a:lnSpc>
              <a:buNone/>
            </a:pPr>
            <a:r>
              <a:rPr lang="en-US" sz="2800" b="1" dirty="0">
                <a:solidFill>
                  <a:srgbClr val="FFFFFF"/>
                </a:solidFill>
                <a:latin typeface="Cambria" pitchFamily="34" charset="0"/>
                <a:ea typeface="Cambria" pitchFamily="34" charset="-122"/>
                <a:cs typeface="Cambria" pitchFamily="34" charset="-120"/>
              </a:rPr>
              <a:t>Not Where Determinism Works</a:t>
            </a:r>
            <a:endParaRPr lang="en-US" sz="2800" dirty="0"/>
          </a:p>
        </p:txBody>
      </p:sp>
      <p:sp>
        <p:nvSpPr>
          <p:cNvPr id="4" name="Shape 2"/>
          <p:cNvSpPr/>
          <p:nvPr/>
        </p:nvSpPr>
        <p:spPr>
          <a:xfrm>
            <a:off x="594360" y="1783080"/>
            <a:ext cx="11000232" cy="640080"/>
          </a:xfrm>
          <a:prstGeom prst="roundRect">
            <a:avLst>
              <a:gd name="adj" fmla="val 8571"/>
            </a:avLst>
          </a:prstGeom>
          <a:solidFill>
            <a:srgbClr val="0A4E5A"/>
          </a:solidFill>
          <a:ln/>
        </p:spPr>
      </p:sp>
      <p:sp>
        <p:nvSpPr>
          <p:cNvPr id="5" name="Text 3"/>
          <p:cNvSpPr/>
          <p:nvPr/>
        </p:nvSpPr>
        <p:spPr>
          <a:xfrm>
            <a:off x="914400" y="1783080"/>
            <a:ext cx="10424160" cy="640080"/>
          </a:xfrm>
          <a:prstGeom prst="rect">
            <a:avLst/>
          </a:prstGeom>
          <a:noFill/>
          <a:ln/>
        </p:spPr>
        <p:txBody>
          <a:bodyPr wrap="square" lIns="0" tIns="0" rIns="0" bIns="0" rtlCol="0" anchor="ctr"/>
          <a:lstStyle/>
          <a:p>
            <a:pPr indent="0" marL="0">
              <a:buNone/>
            </a:pPr>
            <a:r>
              <a:rPr lang="en-US" sz="1300" b="1" dirty="0">
                <a:solidFill>
                  <a:srgbClr val="9FD3D6"/>
                </a:solidFill>
                <a:latin typeface="Calibri" pitchFamily="34" charset="0"/>
                <a:ea typeface="Calibri" pitchFamily="34" charset="-122"/>
                <a:cs typeface="Calibri" pitchFamily="34" charset="-120"/>
              </a:rPr>
              <a:t>Verdict:  </a:t>
            </a:r>
            <a:pPr indent="0" marL="0">
              <a:buNone/>
            </a:pPr>
            <a:r>
              <a:rPr lang="en-US" sz="1400" b="1" dirty="0">
                <a:solidFill>
                  <a:srgbClr val="FFFFFF"/>
                </a:solidFill>
                <a:latin typeface="Calibri" pitchFamily="34" charset="0"/>
                <a:ea typeface="Calibri" pitchFamily="34" charset="-122"/>
                <a:cs typeface="Calibri" pitchFamily="34" charset="-120"/>
              </a:rPr>
              <a:t>Not for the pipeline. Yes for validation-assist and for the Q&amp;A layer.</a:t>
            </a:r>
            <a:endParaRPr lang="en-US" sz="1300" dirty="0"/>
          </a:p>
        </p:txBody>
      </p:sp>
      <p:sp>
        <p:nvSpPr>
          <p:cNvPr id="6" name="Text 4"/>
          <p:cNvSpPr/>
          <p:nvPr/>
        </p:nvSpPr>
        <p:spPr>
          <a:xfrm>
            <a:off x="594360" y="2651760"/>
            <a:ext cx="3502152" cy="292608"/>
          </a:xfrm>
          <a:prstGeom prst="rect">
            <a:avLst/>
          </a:prstGeom>
          <a:noFill/>
          <a:ln/>
        </p:spPr>
        <p:txBody>
          <a:bodyPr wrap="square" lIns="0" tIns="0" rIns="0" bIns="0" rtlCol="0" anchor="ctr"/>
          <a:lstStyle/>
          <a:p>
            <a:pPr indent="0" marL="0">
              <a:buNone/>
            </a:pPr>
            <a:r>
              <a:rPr lang="en-US" sz="1350" b="1" dirty="0">
                <a:solidFill>
                  <a:srgbClr val="D9683F"/>
                </a:solidFill>
                <a:latin typeface="Calibri" pitchFamily="34" charset="0"/>
                <a:ea typeface="Calibri" pitchFamily="34" charset="-122"/>
                <a:cs typeface="Calibri" pitchFamily="34" charset="-120"/>
              </a:rPr>
              <a:t>Why not for the pipeline</a:t>
            </a:r>
            <a:endParaRPr lang="en-US" sz="1350" dirty="0"/>
          </a:p>
        </p:txBody>
      </p:sp>
      <p:sp>
        <p:nvSpPr>
          <p:cNvPr id="7" name="Text 5"/>
          <p:cNvSpPr/>
          <p:nvPr/>
        </p:nvSpPr>
        <p:spPr>
          <a:xfrm>
            <a:off x="594360" y="3035808"/>
            <a:ext cx="3502152" cy="2194560"/>
          </a:xfrm>
          <a:prstGeom prst="rect">
            <a:avLst/>
          </a:prstGeom>
          <a:noFill/>
          <a:ln/>
        </p:spPr>
        <p:txBody>
          <a:bodyPr wrap="square" lIns="0" tIns="0" rIns="0" bIns="0" rtlCol="0" anchor="t"/>
          <a:lstStyle/>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A fixed sequence is a workflow, not agency — you can enumerate every step</a:t>
            </a:r>
            <a:endParaRPr lang="en-US" sz="1100" dirty="0"/>
          </a:p>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Nondeterminism means silent drift: same code, different answers</a:t>
            </a:r>
            <a:endParaRPr lang="en-US" sz="1100" dirty="0"/>
          </a:p>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Auditability suffers — a sampled output can't be reproduced</a:t>
            </a:r>
            <a:endParaRPr lang="en-US" sz="1100" dirty="0"/>
          </a:p>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Chunking is arithmetic; an LLM adds variance and removes guarantees</a:t>
            </a:r>
            <a:endParaRPr lang="en-US" sz="1100" dirty="0"/>
          </a:p>
        </p:txBody>
      </p:sp>
      <p:sp>
        <p:nvSpPr>
          <p:cNvPr id="8" name="Text 6"/>
          <p:cNvSpPr/>
          <p:nvPr/>
        </p:nvSpPr>
        <p:spPr>
          <a:xfrm>
            <a:off x="4398264" y="2651760"/>
            <a:ext cx="3502152" cy="292608"/>
          </a:xfrm>
          <a:prstGeom prst="rect">
            <a:avLst/>
          </a:prstGeom>
          <a:noFill/>
          <a:ln/>
        </p:spPr>
        <p:txBody>
          <a:bodyPr wrap="square" lIns="0" tIns="0" rIns="0" bIns="0" rtlCol="0" anchor="ctr"/>
          <a:lstStyle/>
          <a:p>
            <a:pPr indent="0" marL="0">
              <a:buNone/>
            </a:pPr>
            <a:r>
              <a:rPr lang="en-US" sz="1350" b="1" dirty="0">
                <a:solidFill>
                  <a:srgbClr val="9FD3D6"/>
                </a:solidFill>
                <a:latin typeface="Calibri" pitchFamily="34" charset="0"/>
                <a:ea typeface="Calibri" pitchFamily="34" charset="-122"/>
                <a:cs typeface="Calibri" pitchFamily="34" charset="-120"/>
              </a:rPr>
              <a:t>Where agents genuinely pay</a:t>
            </a:r>
            <a:endParaRPr lang="en-US" sz="1350" dirty="0"/>
          </a:p>
        </p:txBody>
      </p:sp>
      <p:sp>
        <p:nvSpPr>
          <p:cNvPr id="9" name="Text 7"/>
          <p:cNvSpPr/>
          <p:nvPr/>
        </p:nvSpPr>
        <p:spPr>
          <a:xfrm>
            <a:off x="4398264" y="3035808"/>
            <a:ext cx="3502152" cy="2194560"/>
          </a:xfrm>
          <a:prstGeom prst="rect">
            <a:avLst/>
          </a:prstGeom>
          <a:noFill/>
          <a:ln/>
        </p:spPr>
        <p:txBody>
          <a:bodyPr wrap="square" lIns="0" tIns="0" rIns="0" bIns="0" rtlCol="0" anchor="t"/>
          <a:lstStyle/>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Calibration assistant: recommends thresholds once, output frozen as config</a:t>
            </a:r>
            <a:endParaRPr lang="en-US" sz="1100" dirty="0"/>
          </a:p>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Validation with escalation: flags low-confidence pages for human review</a:t>
            </a:r>
            <a:endParaRPr lang="en-US" sz="1100" dirty="0"/>
          </a:p>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Query-time reasoning: multi-hop benefit questions across sections — the real payoff</a:t>
            </a:r>
            <a:endParaRPr lang="en-US" sz="1100" dirty="0"/>
          </a:p>
        </p:txBody>
      </p:sp>
      <p:sp>
        <p:nvSpPr>
          <p:cNvPr id="10" name="Text 8"/>
          <p:cNvSpPr/>
          <p:nvPr/>
        </p:nvSpPr>
        <p:spPr>
          <a:xfrm>
            <a:off x="8202168" y="2651760"/>
            <a:ext cx="3502152" cy="292608"/>
          </a:xfrm>
          <a:prstGeom prst="rect">
            <a:avLst/>
          </a:prstGeom>
          <a:noFill/>
          <a:ln/>
        </p:spPr>
        <p:txBody>
          <a:bodyPr wrap="square" lIns="0" tIns="0" rIns="0" bIns="0" rtlCol="0" anchor="ctr"/>
          <a:lstStyle/>
          <a:p>
            <a:pPr indent="0" marL="0">
              <a:buNone/>
            </a:pPr>
            <a:r>
              <a:rPr lang="en-US" sz="1350" b="1" dirty="0">
                <a:solidFill>
                  <a:srgbClr val="E8B4A0"/>
                </a:solidFill>
                <a:latin typeface="Calibri" pitchFamily="34" charset="0"/>
                <a:ea typeface="Calibri" pitchFamily="34" charset="-122"/>
                <a:cs typeface="Calibri" pitchFamily="34" charset="-120"/>
              </a:rPr>
              <a:t>The counterargument</a:t>
            </a:r>
            <a:endParaRPr lang="en-US" sz="1350" dirty="0"/>
          </a:p>
        </p:txBody>
      </p:sp>
      <p:sp>
        <p:nvSpPr>
          <p:cNvPr id="11" name="Text 9"/>
          <p:cNvSpPr/>
          <p:nvPr/>
        </p:nvSpPr>
        <p:spPr>
          <a:xfrm>
            <a:off x="8202168" y="3035808"/>
            <a:ext cx="3502152" cy="2194560"/>
          </a:xfrm>
          <a:prstGeom prst="rect">
            <a:avLst/>
          </a:prstGeom>
          <a:noFill/>
          <a:ln/>
        </p:spPr>
        <p:txBody>
          <a:bodyPr wrap="square" lIns="0" tIns="0" rIns="0" bIns="0" rtlCol="0" anchor="t"/>
          <a:lstStyle/>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Deterministic parsing means maintaining heuristics</a:t>
            </a:r>
            <a:endParaRPr lang="en-US" sz="1100" dirty="0"/>
          </a:p>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1–5 COC formats: tuning is a weekend, determinism wins</a:t>
            </a:r>
            <a:endParaRPr lang="en-US" sz="1100" dirty="0"/>
          </a:p>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50+ carriers: heuristic upkeep dominates and LLM extraction generalizes better</a:t>
            </a:r>
            <a:endParaRPr lang="en-US" sz="1100" dirty="0"/>
          </a:p>
          <a:p>
            <a:pPr marL="177800" indent="-177800">
              <a:lnSpc>
                <a:spcPct val="100000"/>
              </a:lnSpc>
              <a:spcAft>
                <a:spcPts val="900"/>
              </a:spcAft>
              <a:buSzPct val="100000"/>
              <a:buChar char="•"/>
            </a:pPr>
            <a:r>
              <a:rPr lang="en-US" sz="1100" dirty="0">
                <a:solidFill>
                  <a:srgbClr val="D6E7E9"/>
                </a:solidFill>
                <a:latin typeface="Calibri" pitchFamily="34" charset="0"/>
                <a:ea typeface="Calibri" pitchFamily="34" charset="-122"/>
                <a:cs typeface="Calibri" pitchFamily="34" charset="-120"/>
              </a:rPr>
              <a:t>The decision variable is format diversity, not elegance</a:t>
            </a:r>
            <a:endParaRPr lang="en-US" sz="1100" dirty="0"/>
          </a:p>
        </p:txBody>
      </p:sp>
      <p:sp>
        <p:nvSpPr>
          <p:cNvPr id="12" name="Shape 10"/>
          <p:cNvSpPr/>
          <p:nvPr/>
        </p:nvSpPr>
        <p:spPr>
          <a:xfrm>
            <a:off x="594360" y="5394960"/>
            <a:ext cx="11000232" cy="804672"/>
          </a:xfrm>
          <a:prstGeom prst="roundRect">
            <a:avLst>
              <a:gd name="adj" fmla="val 6818"/>
            </a:avLst>
          </a:prstGeom>
          <a:solidFill>
            <a:srgbClr val="0A4E5A"/>
          </a:solidFill>
          <a:ln/>
        </p:spPr>
      </p:sp>
      <p:sp>
        <p:nvSpPr>
          <p:cNvPr id="13" name="Text 11"/>
          <p:cNvSpPr/>
          <p:nvPr/>
        </p:nvSpPr>
        <p:spPr>
          <a:xfrm>
            <a:off x="914400" y="5394960"/>
            <a:ext cx="10424160" cy="804672"/>
          </a:xfrm>
          <a:prstGeom prst="rect">
            <a:avLst/>
          </a:prstGeom>
          <a:noFill/>
          <a:ln/>
        </p:spPr>
        <p:txBody>
          <a:bodyPr wrap="square" lIns="0" tIns="0" rIns="0" bIns="0" rtlCol="0" anchor="ctr"/>
          <a:lstStyle/>
          <a:p>
            <a:pPr indent="0" marL="0">
              <a:lnSpc>
                <a:spcPct val="110000"/>
              </a:lnSpc>
              <a:buNone/>
            </a:pPr>
            <a:r>
              <a:rPr lang="en-US" sz="1250" b="1" dirty="0">
                <a:solidFill>
                  <a:srgbClr val="9FD3D6"/>
                </a:solidFill>
                <a:latin typeface="Calibri" pitchFamily="34" charset="0"/>
                <a:ea typeface="Calibri" pitchFamily="34" charset="-122"/>
                <a:cs typeface="Calibri" pitchFamily="34" charset="-120"/>
              </a:rPr>
              <a:t>Recommended middle path:  </a:t>
            </a:r>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deterministic extraction as the primary path  →  automated confidence checks  →  LLM fallback only on flagged pages  →  human review queue.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 Knowledge Base</dc:title>
  <dc:subject>PptxGenJS Presentation</dc:subject>
  <dc:creator>COC Knowledge Base</dc:creator>
  <cp:lastModifiedBy>COC Knowledge Base</cp:lastModifiedBy>
  <cp:revision>1</cp:revision>
  <dcterms:created xsi:type="dcterms:W3CDTF">2026-08-15T23:14:07Z</dcterms:created>
  <dcterms:modified xsi:type="dcterms:W3CDTF">2026-08-15T23:14:07Z</dcterms:modified>
</cp:coreProperties>
</file>